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9" r:id="rId9"/>
    <p:sldId id="268" r:id="rId10"/>
    <p:sldId id="270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1018" y="29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304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E4F6F1-D9E0-E688-9314-685D7EA340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142036-6B6E-4606-FE79-C202E0D1F7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55812-68FB-40F9-7853-B343D776E8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4336F1-DF1E-5406-BDB3-F73B738C96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67737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98816C-7BD5-25E2-8E76-744716F6D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44BAC1-F073-1038-4E86-494B92B43E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A56EE50-23FE-EC96-FDE0-8E3CC8BC6B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BC6876-F7D4-F846-0077-8312429BD3D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25331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148E8-299B-0E45-A994-0D75597DF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45A4B5-1079-509C-391D-14FFFC842A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6C102C-BEF6-9AFE-983B-C228F5C581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396A02-BC94-2CC7-F2E0-2155796D07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406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163B2B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kern="0" spc="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BICING BARCELONA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1371600" y="246888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>
              <a:lnSpc>
                <a:spcPct val="130000"/>
              </a:lnSpc>
            </a:pP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repte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de la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disponibilitat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</a:t>
            </a:r>
          </a:p>
          <a:p>
            <a:pPr algn="ctr">
              <a:lnSpc>
                <a:spcPct val="130000"/>
              </a:lnSpc>
            </a:pP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anàlisi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, patrons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r>
              <a:rPr lang="en-US" sz="2000" dirty="0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2000" dirty="0" err="1">
                <a:solidFill>
                  <a:srgbClr val="95D5B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predicció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40233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Vanessa Plaza · </a:t>
            </a:r>
            <a:r>
              <a:rPr lang="es-ES" sz="1300" dirty="0" err="1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Itinerari</a:t>
            </a:r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300" dirty="0" err="1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d’Anàlisi</a:t>
            </a:r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s-ES" sz="1300" dirty="0" err="1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Dades</a:t>
            </a:r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</a:t>
            </a:r>
            <a:r>
              <a:rPr lang="es-ES" sz="1300" dirty="0" err="1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Cibernàrium</a:t>
            </a:r>
            <a:r>
              <a:rPr lang="es-ES" sz="1300" dirty="0">
                <a:solidFill>
                  <a:srgbClr val="7FBF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Barcelona Activa</a:t>
            </a:r>
            <a:endParaRPr lang="en-US" sz="1300" dirty="0">
              <a:solidFill>
                <a:srgbClr val="7FBF9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Text 4"/>
          <p:cNvSpPr/>
          <p:nvPr/>
        </p:nvSpPr>
        <p:spPr>
          <a:xfrm>
            <a:off x="914400" y="4480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Data Barcelona: 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milions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mesuraments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548 </a:t>
            </a:r>
            <a:r>
              <a:rPr lang="fr-FR" sz="1000" i="1" dirty="0" err="1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estacions</a:t>
            </a:r>
            <a:r>
              <a:rPr lang="fr-FR" sz="10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2020–2025</a:t>
            </a:r>
            <a:endParaRPr lang="en-US" sz="1000" i="1" dirty="0">
              <a:solidFill>
                <a:srgbClr val="5A9A7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servei Bicing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 xarxa de bicicletes compartides més gran de Barcelona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120640" y="137160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548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5120640" y="1965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estacions actives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120640" y="2423160"/>
            <a:ext cx="32004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/>
          <p:nvPr/>
        </p:nvSpPr>
        <p:spPr>
          <a:xfrm>
            <a:off x="5120640" y="25603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~1.1 M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5120640" y="31546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viatges / mes (mitjana 2024)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120640" y="3611880"/>
            <a:ext cx="3200400" cy="0"/>
          </a:xfrm>
          <a:prstGeom prst="line">
            <a:avLst/>
          </a:prstGeom>
          <a:noFill/>
          <a:ln w="12700">
            <a:solidFill>
              <a:srgbClr val="E9ECE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Text 9"/>
          <p:cNvSpPr/>
          <p:nvPr/>
        </p:nvSpPr>
        <p:spPr>
          <a:xfrm>
            <a:off x="5120640" y="374904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291 M</a:t>
            </a:r>
            <a:endParaRPr lang="en-US" sz="4800" dirty="0"/>
          </a:p>
        </p:txBody>
      </p:sp>
      <p:sp>
        <p:nvSpPr>
          <p:cNvPr id="13" name="Text 10"/>
          <p:cNvSpPr/>
          <p:nvPr/>
        </p:nvSpPr>
        <p:spPr>
          <a:xfrm>
            <a:off x="5120640" y="4343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mesuraments analitzats (2020–2025)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  <p:pic>
        <p:nvPicPr>
          <p:cNvPr id="16" name="Imagen 15" descr="Mapa&#10;&#10;El contenido generado por IA puede ser incorrecto.">
            <a:extLst>
              <a:ext uri="{FF2B5EF4-FFF2-40B4-BE49-F238E27FC236}">
                <a16:creationId xmlns:a16="http://schemas.microsoft.com/office/drawing/2014/main" id="{6EBB102A-A863-07E4-1209-BC44222F84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322339"/>
            <a:ext cx="4503798" cy="347952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 dels viatges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El Bicing ha crescut de manera sostinguda des de la pandèmia, amb un rècord d'1.24 M viatges al mes el 2024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Open Data Barcelona · Servei Bicing · Elaboració pròpia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  <p:pic>
        <p:nvPicPr>
          <p:cNvPr id="9" name="Imagen 8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095CA7D-E7E8-D9DF-8447-6F77A1D136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356067"/>
            <a:ext cx="8412480" cy="312161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ES" sz="32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Estacionalitat</a:t>
            </a:r>
            <a:r>
              <a:rPr lang="es-E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del </a:t>
            </a:r>
            <a:r>
              <a:rPr lang="es-ES" sz="32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Bicing</a:t>
            </a:r>
            <a:r>
              <a:rPr lang="es-E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hora, </a:t>
            </a:r>
            <a:r>
              <a:rPr lang="es-ES" sz="3200" b="1" dirty="0" err="1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</a:t>
            </a:r>
            <a:r>
              <a:rPr lang="es-ES" sz="32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 mes</a:t>
            </a:r>
            <a:endParaRPr lang="en-US" sz="3200" b="1" dirty="0">
              <a:solidFill>
                <a:srgbClr val="1B4332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Pics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laborables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les 8h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18h,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descens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l'agost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creixement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sostingut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any </a:t>
            </a:r>
            <a:r>
              <a:rPr lang="en-US" sz="14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rere</a:t>
            </a: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any</a:t>
            </a:r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Open Data Barcelona · Servei Bicing · Elaboració pròpia · Període 2022–2025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  <p:pic>
        <p:nvPicPr>
          <p:cNvPr id="10" name="Imagen 9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2318613-9248-25A0-95CC-AB9353371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9899" y="1417983"/>
            <a:ext cx="3729001" cy="2396943"/>
          </a:xfrm>
          <a:prstGeom prst="rect">
            <a:avLst/>
          </a:prstGeom>
        </p:spPr>
      </p:pic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33B0E935-7377-5115-D3F2-21743F154F3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3219" y="1414308"/>
            <a:ext cx="4243579" cy="224897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problema: estacions buides i plenes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 15–25% del temps, les estacions no tenen bicicletes o no tenen anclatges lliures</a:t>
            </a:r>
            <a:endParaRPr lang="en-US" sz="1400" dirty="0"/>
          </a:p>
        </p:txBody>
      </p:sp>
      <p:sp>
        <p:nvSpPr>
          <p:cNvPr id="7" name="Shape 3"/>
          <p:cNvSpPr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solidFill>
            <a:srgbClr val="FBE9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640080" y="41605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estacions buides (vermell) són el problema dominant: fins al 25% de les franges de 30 min sense cap bicicleta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Franges de 30 min amb 0 bicis (buida) o 0 anclatges (plena) · 2022–2025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  <p:pic>
        <p:nvPicPr>
          <p:cNvPr id="12" name="Imagen 11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237255FD-44A6-2E24-3339-2D4945EA9D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23802"/>
            <a:ext cx="8366760" cy="257492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 passa? Hora i dia de la setmana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45720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Estacions buides: pic al matí (8–10h), quan la gent agafa bicis per anar a treballar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  <p:pic>
        <p:nvPicPr>
          <p:cNvPr id="9" name="Imagen 8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B716CB02-8063-F819-5967-098F0922D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4427" y="3035523"/>
            <a:ext cx="5942225" cy="1902237"/>
          </a:xfrm>
          <a:prstGeom prst="rect">
            <a:avLst/>
          </a:prstGeom>
        </p:spPr>
      </p:pic>
      <p:pic>
        <p:nvPicPr>
          <p:cNvPr id="11" name="Imagen 10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F804C7CF-E0C6-420D-7AC5-84D1290D81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6532" y="1133286"/>
            <a:ext cx="6169976" cy="190223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passa? Districtes i estacions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Sarrià-Sant Gervasi i Gràcia: &gt;30% del temps buides. Ciutat Vella i Sant Martí: problemes de plena.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457200" y="48006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franges de 30 min amb estació completament buida o plena · 2022–2025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  <p:pic>
        <p:nvPicPr>
          <p:cNvPr id="10" name="Imagen 9" descr="Gráfico, Gráfico de barras, Gráfico de embudo&#10;&#10;El contenido generado por IA puede ser incorrecto.">
            <a:extLst>
              <a:ext uri="{FF2B5EF4-FFF2-40B4-BE49-F238E27FC236}">
                <a16:creationId xmlns:a16="http://schemas.microsoft.com/office/drawing/2014/main" id="{C04419E9-3D65-9972-DEEC-49C38490B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" y="1179253"/>
            <a:ext cx="5029201" cy="2493469"/>
          </a:xfrm>
          <a:prstGeom prst="rect">
            <a:avLst/>
          </a:prstGeom>
        </p:spPr>
      </p:pic>
      <p:pic>
        <p:nvPicPr>
          <p:cNvPr id="12" name="Imagen 11" descr="Mapa&#10;&#10;El contenido generado por IA puede ser incorrecto.">
            <a:extLst>
              <a:ext uri="{FF2B5EF4-FFF2-40B4-BE49-F238E27FC236}">
                <a16:creationId xmlns:a16="http://schemas.microsoft.com/office/drawing/2014/main" id="{014C7970-3D00-2AA8-E9DD-ABF5852148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1179911"/>
            <a:ext cx="3463619" cy="36556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7A85DC-5EFF-58D5-7D47-69BEEC2C8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DB54ED69-169E-474D-F3BC-AC7F8731374E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D64761C5-50F4-54CE-8702-AF2670F77542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Tipologia d'estacions: 5 perfils d'ús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4E28889-C8F4-CA0F-9B13-86F474D501B4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Clustering K-Means </a:t>
            </a:r>
            <a:r>
              <a:rPr lang="en-US" sz="1300" dirty="0" err="1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amb</a:t>
            </a: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 30 features per identificar patrons diferenciats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54FC63C-548D-BA20-C754-54B81A44BE6C}"/>
              </a:ext>
            </a:extLst>
          </p:cNvPr>
          <p:cNvSpPr/>
          <p:nvPr/>
        </p:nvSpPr>
        <p:spPr>
          <a:xfrm>
            <a:off x="5050299" y="1353312"/>
            <a:ext cx="201168" cy="201168"/>
          </a:xfrm>
          <a:prstGeom prst="ellipse">
            <a:avLst/>
          </a:prstGeom>
          <a:solidFill>
            <a:srgbClr val="E74C3C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B16C9FA-F676-5D61-D08F-9A41FFEFA3ED}"/>
              </a:ext>
            </a:extLst>
          </p:cNvPr>
          <p:cNvSpPr/>
          <p:nvPr/>
        </p:nvSpPr>
        <p:spPr>
          <a:xfrm>
            <a:off x="5342907" y="1280160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C0: Perifèric Baix Ús (132)</a:t>
            </a:r>
            <a:endParaRPr lang="en-US" sz="13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82BBAED-C22E-0CAF-B75F-95DCA172CDC8}"/>
              </a:ext>
            </a:extLst>
          </p:cNvPr>
          <p:cNvSpPr/>
          <p:nvPr/>
        </p:nvSpPr>
        <p:spPr>
          <a:xfrm>
            <a:off x="5342907" y="1554480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altes, poc trànsit, sovint buides</a:t>
            </a:r>
            <a:endParaRPr lang="en-US" sz="110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99E97745-2D3B-6691-CB04-1C0282FFC968}"/>
              </a:ext>
            </a:extLst>
          </p:cNvPr>
          <p:cNvSpPr/>
          <p:nvPr/>
        </p:nvSpPr>
        <p:spPr>
          <a:xfrm>
            <a:off x="5050299" y="2066544"/>
            <a:ext cx="201168" cy="201168"/>
          </a:xfrm>
          <a:prstGeom prst="ellipse">
            <a:avLst/>
          </a:prstGeom>
          <a:solidFill>
            <a:srgbClr val="3498DB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ABE4FB8-1BC8-A59F-83F6-B99476702CEC}"/>
              </a:ext>
            </a:extLst>
          </p:cNvPr>
          <p:cNvSpPr/>
          <p:nvPr/>
        </p:nvSpPr>
        <p:spPr>
          <a:xfrm>
            <a:off x="5342907" y="1993392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C1: Central Alta Ocupació (42)</a:t>
            </a:r>
            <a:endParaRPr lang="en-US" sz="1300" dirty="0"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0727D5E2-2082-CC98-793C-8A25F0DB1A77}"/>
              </a:ext>
            </a:extLst>
          </p:cNvPr>
          <p:cNvSpPr/>
          <p:nvPr/>
        </p:nvSpPr>
        <p:spPr>
          <a:xfrm>
            <a:off x="5342907" y="2267712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Centre, alta demanda, NAB alt matí i tarda</a:t>
            </a:r>
            <a:endParaRPr lang="en-US" sz="1100" dirty="0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EE5C7498-9533-3DE9-DE3E-3172DFB786C1}"/>
              </a:ext>
            </a:extLst>
          </p:cNvPr>
          <p:cNvSpPr/>
          <p:nvPr/>
        </p:nvSpPr>
        <p:spPr>
          <a:xfrm>
            <a:off x="5050299" y="2779776"/>
            <a:ext cx="201168" cy="201168"/>
          </a:xfrm>
          <a:prstGeom prst="ellipse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165D932F-6332-E3A9-ED03-3DDFB04F6E49}"/>
              </a:ext>
            </a:extLst>
          </p:cNvPr>
          <p:cNvSpPr/>
          <p:nvPr/>
        </p:nvSpPr>
        <p:spPr>
          <a:xfrm>
            <a:off x="5342907" y="2706624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C2: Origen Commuter </a:t>
            </a:r>
            <a:r>
              <a:rPr lang="en-US" sz="1300" b="1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Matí</a:t>
            </a: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(162)</a:t>
            </a:r>
            <a:endParaRPr lang="en-US" sz="1300" dirty="0"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A8E7949-A35E-B69E-BB2C-8C55888D4005}"/>
              </a:ext>
            </a:extLst>
          </p:cNvPr>
          <p:cNvSpPr/>
          <p:nvPr/>
        </p:nvSpPr>
        <p:spPr>
          <a:xfrm>
            <a:off x="5342907" y="2980944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Estacions d'origen, es buiden al matí</a:t>
            </a:r>
            <a:endParaRPr lang="en-US" sz="1100" dirty="0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B47785D-9A40-1D4C-F65A-91B0EA996516}"/>
              </a:ext>
            </a:extLst>
          </p:cNvPr>
          <p:cNvSpPr/>
          <p:nvPr/>
        </p:nvSpPr>
        <p:spPr>
          <a:xfrm>
            <a:off x="5050299" y="3493008"/>
            <a:ext cx="201168" cy="201168"/>
          </a:xfrm>
          <a:prstGeom prst="ellipse">
            <a:avLst/>
          </a:prstGeom>
          <a:solidFill>
            <a:srgbClr val="9B59B6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D5A1AFA-9B9A-FE08-FE81-0286F1F7CA40}"/>
              </a:ext>
            </a:extLst>
          </p:cNvPr>
          <p:cNvSpPr/>
          <p:nvPr/>
        </p:nvSpPr>
        <p:spPr>
          <a:xfrm>
            <a:off x="5342907" y="3419856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C3: Ús Mixt Equilibrat (122)</a:t>
            </a:r>
            <a:endParaRPr lang="en-US" sz="13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4E59DBA5-C0E9-AEB3-4D4F-95F8C8CE3BA3}"/>
              </a:ext>
            </a:extLst>
          </p:cNvPr>
          <p:cNvSpPr/>
          <p:nvPr/>
        </p:nvSpPr>
        <p:spPr>
          <a:xfrm>
            <a:off x="5342907" y="3694176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Ús equilibrat, capacitat gran</a:t>
            </a:r>
            <a:endParaRPr lang="en-US" sz="11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7FE4DCBD-088F-8B82-D500-A4587820898E}"/>
              </a:ext>
            </a:extLst>
          </p:cNvPr>
          <p:cNvSpPr/>
          <p:nvPr/>
        </p:nvSpPr>
        <p:spPr>
          <a:xfrm>
            <a:off x="5050299" y="4206240"/>
            <a:ext cx="201168" cy="201168"/>
          </a:xfrm>
          <a:prstGeom prst="ellipse">
            <a:avLst/>
          </a:prstGeom>
          <a:solidFill>
            <a:srgbClr val="E67E22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BB3E5B7-2A10-2448-C7B2-E3720B16366C}"/>
              </a:ext>
            </a:extLst>
          </p:cNvPr>
          <p:cNvSpPr/>
          <p:nvPr/>
        </p:nvSpPr>
        <p:spPr>
          <a:xfrm>
            <a:off x="5342907" y="4133088"/>
            <a:ext cx="44622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C4: Residencial Entrada Tarda (59)</a:t>
            </a:r>
            <a:endParaRPr lang="en-US" sz="1300" dirty="0"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B59EB20-F8FD-37F4-D746-76DAA15F6CE8}"/>
              </a:ext>
            </a:extLst>
          </p:cNvPr>
          <p:cNvSpPr/>
          <p:nvPr/>
        </p:nvSpPr>
        <p:spPr>
          <a:xfrm>
            <a:off x="5342907" y="4407408"/>
            <a:ext cx="44622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95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Zones residencials, s'omplen a la tarda</a:t>
            </a:r>
            <a:endParaRPr lang="en-US" sz="1100" dirty="0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79BD2DA-8769-74AB-3D84-22C425DDE86C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  <p:pic>
        <p:nvPicPr>
          <p:cNvPr id="26" name="Imagen 25">
            <a:extLst>
              <a:ext uri="{FF2B5EF4-FFF2-40B4-BE49-F238E27FC236}">
                <a16:creationId xmlns:a16="http://schemas.microsoft.com/office/drawing/2014/main" id="{14086294-1130-B815-2849-138394593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6916"/>
            <a:ext cx="4462272" cy="3572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9433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42F6F9-68A6-A59F-8140-05BEEC89F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02D482B-BBDC-B736-36EC-310D3DEDCF7C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5E2BE9E-86F6-2337-5596-966B6895E0F7}"/>
              </a:ext>
            </a:extLst>
          </p:cNvPr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Perfils dels clústers: centroides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2575D0C-B912-769B-CD6A-23878564FF05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Cada clúster té un perfil diferent segons capacitat, NAB, variabilitat i problemes de disponibilitat</a:t>
            </a:r>
            <a:endParaRPr lang="en-US" sz="1300" dirty="0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1F14FF4-30AC-8425-9502-87B10024799D}"/>
              </a:ext>
            </a:extLst>
          </p:cNvPr>
          <p:cNvSpPr/>
          <p:nvPr/>
        </p:nvSpPr>
        <p:spPr>
          <a:xfrm>
            <a:off x="457200" y="4297680"/>
            <a:ext cx="3931920" cy="50292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AECA02C-3E6F-D1BE-2704-B22B72123ECF}"/>
              </a:ext>
            </a:extLst>
          </p:cNvPr>
          <p:cNvSpPr/>
          <p:nvPr/>
        </p:nvSpPr>
        <p:spPr>
          <a:xfrm>
            <a:off x="59436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C1 (Central): NAB més alt → alta ocupació constant</a:t>
            </a:r>
            <a:endParaRPr lang="en-US" sz="1100" dirty="0"/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A3047EA8-C345-D5AC-E2D1-D7D7F140C53C}"/>
              </a:ext>
            </a:extLst>
          </p:cNvPr>
          <p:cNvSpPr/>
          <p:nvPr/>
        </p:nvSpPr>
        <p:spPr>
          <a:xfrm>
            <a:off x="4754880" y="4297680"/>
            <a:ext cx="3931920" cy="502920"/>
          </a:xfrm>
          <a:prstGeom prst="rect">
            <a:avLst/>
          </a:prstGeom>
          <a:solidFill>
            <a:srgbClr val="FBE9E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2FDF5F-0E55-497F-8492-CBE6FE81AB5A}"/>
              </a:ext>
            </a:extLst>
          </p:cNvPr>
          <p:cNvSpPr/>
          <p:nvPr/>
        </p:nvSpPr>
        <p:spPr>
          <a:xfrm>
            <a:off x="4892040" y="42976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C0 (Perifèric): Ratio buida alt → prioritat de redistribució</a:t>
            </a:r>
            <a:endParaRPr lang="en-US" sz="1100" dirty="0"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1054EF1-C26D-5F79-9D17-64984B409D29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20A28836-72E4-BCA5-4D6A-F8C78FA3B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85101"/>
            <a:ext cx="8229600" cy="2894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3109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A221B4E-36CA-CE54-BAA9-8DFC0A80F5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3B8F09C-5024-90C6-C1B7-91E58F562CB9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3D963A44-1D4B-E7BC-59D6-3678CD3802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28600"/>
            <a:ext cx="411480" cy="411480"/>
          </a:xfrm>
          <a:prstGeom prst="rect">
            <a:avLst/>
          </a:prstGeom>
        </p:spPr>
      </p:pic>
      <p:sp>
        <p:nvSpPr>
          <p:cNvPr id="4" name="Text 1">
            <a:extLst>
              <a:ext uri="{FF2B5EF4-FFF2-40B4-BE49-F238E27FC236}">
                <a16:creationId xmlns:a16="http://schemas.microsoft.com/office/drawing/2014/main" id="{A80D9B3A-F298-60BF-772A-0C2DD90F144E}"/>
              </a:ext>
            </a:extLst>
          </p:cNvPr>
          <p:cNvSpPr/>
          <p:nvPr/>
        </p:nvSpPr>
        <p:spPr>
          <a:xfrm>
            <a:off x="960120" y="2286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Predicció: Random Forest vs. baselines</a:t>
            </a:r>
            <a:endParaRPr lang="en-US" sz="28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EE3D5F15-05D5-300F-5135-9C30FD630DCA}"/>
              </a:ext>
            </a:extLst>
          </p:cNvPr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Podem predir si una estació estarà buida, plena o normal en cada franja de 30 minuts?</a:t>
            </a:r>
            <a:endParaRPr lang="en-US" sz="1400" dirty="0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01AD31C2-5643-78D4-801D-25870E55CFD1}"/>
              </a:ext>
            </a:extLst>
          </p:cNvPr>
          <p:cNvSpPr/>
          <p:nvPr/>
        </p:nvSpPr>
        <p:spPr>
          <a:xfrm>
            <a:off x="5212079" y="1271016"/>
            <a:ext cx="2377440" cy="365760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9CFE17A7-3D8D-4792-F539-7CA165DF9237}"/>
              </a:ext>
            </a:extLst>
          </p:cNvPr>
          <p:cNvSpPr/>
          <p:nvPr/>
        </p:nvSpPr>
        <p:spPr>
          <a:xfrm>
            <a:off x="5303519" y="1271016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~83% Balanced Accuracy</a:t>
            </a:r>
            <a:endParaRPr lang="en-US" sz="1000" dirty="0"/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446C3CA5-5ECF-9A48-8282-BCC673D685BF}"/>
              </a:ext>
            </a:extLst>
          </p:cNvPr>
          <p:cNvSpPr/>
          <p:nvPr/>
        </p:nvSpPr>
        <p:spPr>
          <a:xfrm>
            <a:off x="5212079" y="2337544"/>
            <a:ext cx="2377440" cy="365760"/>
          </a:xfrm>
          <a:prstGeom prst="rect">
            <a:avLst/>
          </a:prstGeom>
          <a:solidFill>
            <a:srgbClr val="FFF3E0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02932F4B-7A94-0581-06D7-6BCDEA6B6E83}"/>
              </a:ext>
            </a:extLst>
          </p:cNvPr>
          <p:cNvSpPr/>
          <p:nvPr/>
        </p:nvSpPr>
        <p:spPr>
          <a:xfrm>
            <a:off x="5303519" y="233754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Avg: ~45%</a:t>
            </a:r>
            <a:endParaRPr lang="en-US" sz="10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9F74DF9F-D586-738E-13B8-0EE4350A5D84}"/>
              </a:ext>
            </a:extLst>
          </p:cNvPr>
          <p:cNvSpPr/>
          <p:nvPr/>
        </p:nvSpPr>
        <p:spPr>
          <a:xfrm>
            <a:off x="5212079" y="1802225"/>
            <a:ext cx="2377440" cy="365760"/>
          </a:xfrm>
          <a:prstGeom prst="rect">
            <a:avLst/>
          </a:prstGeom>
          <a:solidFill>
            <a:srgbClr val="E0F7FA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65D6698-6B65-1B64-ACF3-C64FCE29B760}"/>
              </a:ext>
            </a:extLst>
          </p:cNvPr>
          <p:cNvSpPr/>
          <p:nvPr/>
        </p:nvSpPr>
        <p:spPr>
          <a:xfrm>
            <a:off x="5303519" y="1802225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60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Naive 7d: ~53%</a:t>
            </a:r>
            <a:endParaRPr lang="en-US" sz="10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801F1542-DCEB-49A3-80A1-E3F4F32A372F}"/>
              </a:ext>
            </a:extLst>
          </p:cNvPr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  <p:pic>
        <p:nvPicPr>
          <p:cNvPr id="7" name="Imagen 6" descr="Gráfico, Gráfico de líneas&#10;&#10;El contenido generado por IA puede ser incorrecto.">
            <a:extLst>
              <a:ext uri="{FF2B5EF4-FFF2-40B4-BE49-F238E27FC236}">
                <a16:creationId xmlns:a16="http://schemas.microsoft.com/office/drawing/2014/main" id="{0A8D2293-CE5D-E834-F87C-841ADB7975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1172549"/>
            <a:ext cx="3784510" cy="1701294"/>
          </a:xfrm>
          <a:prstGeom prst="rect">
            <a:avLst/>
          </a:prstGeom>
        </p:spPr>
      </p:pic>
      <p:pic>
        <p:nvPicPr>
          <p:cNvPr id="16" name="Imagen 15">
            <a:extLst>
              <a:ext uri="{FF2B5EF4-FFF2-40B4-BE49-F238E27FC236}">
                <a16:creationId xmlns:a16="http://schemas.microsoft.com/office/drawing/2014/main" id="{47094DD7-EAA4-204D-69D7-05B1DEA7075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14945" y="2937451"/>
            <a:ext cx="6340510" cy="1993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0216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D6A4F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Què importa per predir?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300" dirty="0">
                <a:solidFill>
                  <a:srgbClr val="495057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Les disponibilitats recents (LAG 2) i l'historial de problemes són els millors predictors</a:t>
            </a:r>
            <a:endParaRPr lang="en-US" sz="1300" dirty="0">
              <a:solidFill>
                <a:srgbClr val="495057"/>
              </a:solidFill>
              <a:latin typeface="Calibri Light" pitchFamily="34" charset="0"/>
              <a:ea typeface="Calibri Light" pitchFamily="34" charset="-122"/>
              <a:cs typeface="Calibri Light" pitchFamily="34" charset="-120"/>
            </a:endParaRPr>
          </a:p>
        </p:txBody>
      </p:sp>
      <p:sp>
        <p:nvSpPr>
          <p:cNvPr id="7" name="Shape 3"/>
          <p:cNvSpPr/>
          <p:nvPr/>
        </p:nvSpPr>
        <p:spPr>
          <a:xfrm>
            <a:off x="5186680" y="1573614"/>
            <a:ext cx="3398520" cy="1302936"/>
          </a:xfrm>
          <a:prstGeom prst="rect">
            <a:avLst/>
          </a:prstGeom>
          <a:solidFill>
            <a:srgbClr val="F0FFF4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8" name="Text 4"/>
          <p:cNvSpPr/>
          <p:nvPr/>
        </p:nvSpPr>
        <p:spPr>
          <a:xfrm>
            <a:off x="5323840" y="1691640"/>
            <a:ext cx="319012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supera amb escreix els baselines: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</a:t>
            </a:r>
            <a:r>
              <a:rPr lang="en-US" sz="1100" dirty="0" err="1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Precisió</a:t>
            </a: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29% per 'buida' i 'plena'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Recall &gt; 74,9% en totes les classes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F1 &gt; 43,6% fins i tot per la classe minoritària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68E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38C5DA7D-7E81-E910-1E34-DA160D19B2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342028"/>
            <a:ext cx="4639976" cy="306904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i propera acció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 és real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4008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15–25% del temps les estacions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donen servei complet.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Sarrià i Gràcia: &gt;30% buides.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33756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1417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52044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 és previsible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352044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perfils d'ús identificats.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Patrons clars per hora, dia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districte.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188720"/>
            <a:ext cx="2606040" cy="2560320"/>
          </a:xfrm>
          <a:prstGeom prst="rect">
            <a:avLst/>
          </a:prstGeom>
          <a:solidFill>
            <a:srgbClr val="1E5040"/>
          </a:solidFill>
          <a:ln/>
        </p:spPr>
        <p:txBody>
          <a:bodyPr/>
          <a:lstStyle/>
          <a:p>
            <a:endParaRPr lang="es-E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0" y="141732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192024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predicció funciona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6400800" y="2331720"/>
            <a:ext cx="2240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Forest: </a:t>
            </a:r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83% balanced accuracy.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Permet anticipar problemes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95D5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redistribuir bicicletes.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solidFill>
            <a:srgbClr val="52B788"/>
          </a:solidFill>
          <a:ln/>
        </p:spPr>
        <p:txBody>
          <a:bodyPr/>
          <a:lstStyle/>
          <a:p>
            <a:endParaRPr lang="es-ES"/>
          </a:p>
        </p:txBody>
      </p:sp>
      <p:sp>
        <p:nvSpPr>
          <p:cNvPr id="17" name="Text 12"/>
          <p:cNvSpPr/>
          <p:nvPr/>
        </p:nvSpPr>
        <p:spPr>
          <a:xfrm>
            <a:off x="640080" y="402336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4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Pròxim pas: integrar el model en temps real per optimitzar la redistribució de bicicletes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A9A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Font: Open Data Barcelona · Servei Bicing · 291M mesuraments · Elaboració pròpia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</TotalTime>
  <Words>655</Words>
  <Application>Microsoft Office PowerPoint</Application>
  <PresentationFormat>Presentación en pantalla (16:9)</PresentationFormat>
  <Paragraphs>93</Paragraphs>
  <Slides>12</Slides>
  <Notes>12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Bicing Barcelona – Análisis del servicio</dc:title>
  <dc:subject>PptxGenJS Presentation</dc:subject>
  <dc:creator>vanessa plaza</dc:creator>
  <cp:lastModifiedBy>vanessa plaza</cp:lastModifiedBy>
  <cp:revision>25</cp:revision>
  <dcterms:created xsi:type="dcterms:W3CDTF">2026-03-24T15:29:37Z</dcterms:created>
  <dcterms:modified xsi:type="dcterms:W3CDTF">2026-04-09T00:22:17Z</dcterms:modified>
</cp:coreProperties>
</file>