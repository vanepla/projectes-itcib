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7" r:id="rId4"/>
    <p:sldId id="272" r:id="rId5"/>
    <p:sldId id="258" r:id="rId6"/>
    <p:sldId id="259" r:id="rId7"/>
    <p:sldId id="260" r:id="rId8"/>
    <p:sldId id="261" r:id="rId9"/>
    <p:sldId id="262" r:id="rId10"/>
    <p:sldId id="269" r:id="rId11"/>
    <p:sldId id="274" r:id="rId12"/>
    <p:sldId id="270" r:id="rId13"/>
    <p:sldId id="266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409" autoAdjust="0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1306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304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B556-9E9E-C8A4-F906-34BECAF6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F4257-CD80-AFCD-8C17-E3C7FFEA2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25150-1152-A900-2850-8E98893D1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2A683-CA21-F034-C7A0-DC32A6A8BD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700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9881C-2231-9CB7-9E9A-DC3749DF8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0D1C5A-8201-94D2-6099-5A8048FDC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7CE45-6F5E-AC18-BB7D-8A4C10D06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09102-13C3-B2B3-81E8-A7C1975CF5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1446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4F6F1-D9E0-E688-9314-685D7EA34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142036-6B6E-4606-FE79-C202E0D1F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55812-68FB-40F9-7853-B343D776E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336F1-DF1E-5406-BDB3-F73B738C96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773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75BC2-202E-CDB2-607B-A3E44F027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AEBCD-2FB1-6C04-508F-F92CD243F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F1E15-128D-FA68-C44E-3559A86B6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4F1B09-709E-423E-1907-D9D7EDC912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1240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48E8-299B-0E45-A994-0D75597D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5A4B5-1079-509C-391D-14FFFC842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6C102C-BEF6-9AFE-983B-C228F5C58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96A02-BC94-2CC7-F2E0-2155796D07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406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0.Dades_Analisi/html/bicicletes_mapa_estacions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hyperlink" Target="0.Dades_Analisi/html/mapa_problema_combinat.html" TargetMode="External"/><Relationship Id="rId4" Type="http://schemas.openxmlformats.org/officeDocument/2006/relationships/hyperlink" Target="0.Dades_Analisi/timelapse_bicing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0.Dades_Analisi/html/mapa_clusters_interactiu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63B2B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BICING BARCELONA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1371600" y="24688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30000"/>
              </a:lnSpc>
            </a:pP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</a:t>
            </a: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repte</a:t>
            </a: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de la </a:t>
            </a: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disponibilitat</a:t>
            </a: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</a:t>
            </a:r>
          </a:p>
          <a:p>
            <a:pPr algn="ctr">
              <a:lnSpc>
                <a:spcPct val="130000"/>
              </a:lnSpc>
            </a:pP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anàlisi</a:t>
            </a: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patrons </a:t>
            </a: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</a:t>
            </a:r>
            <a:r>
              <a:rPr lang="en-US" sz="2000" dirty="0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2000" dirty="0" err="1">
                <a:solidFill>
                  <a:srgbClr val="95D5B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predicció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4023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Vanessa Plaza · </a:t>
            </a:r>
            <a:r>
              <a:rPr lang="es-ES" sz="1300" dirty="0" err="1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</a:t>
            </a:r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1300" dirty="0" err="1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d’Anàlisi</a:t>
            </a:r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s-ES" sz="1300" dirty="0" err="1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Dades</a:t>
            </a:r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300" dirty="0" err="1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Cibernàrium</a:t>
            </a:r>
            <a:r>
              <a:rPr lang="es-ES" sz="1300" dirty="0">
                <a:solidFill>
                  <a:srgbClr val="7FB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Barcelona Activa</a:t>
            </a:r>
            <a:endParaRPr lang="en-US" sz="1300" dirty="0">
              <a:solidFill>
                <a:srgbClr val="7FBF9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Barcelona: </a:t>
            </a:r>
            <a:r>
              <a:rPr lang="fr-FR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</a:t>
            </a:r>
            <a:r>
              <a:rPr lang="fr-FR" sz="1000" i="1" dirty="0" err="1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milions</a:t>
            </a:r>
            <a:r>
              <a:rPr lang="fr-FR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fr-FR" sz="1000" i="1" dirty="0" err="1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mesuraments</a:t>
            </a:r>
            <a:r>
              <a:rPr lang="fr-FR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548 </a:t>
            </a:r>
            <a:r>
              <a:rPr lang="fr-FR" sz="1000" i="1" dirty="0" err="1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estacions</a:t>
            </a:r>
            <a:r>
              <a:rPr lang="fr-FR" sz="10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2020–2025</a:t>
            </a:r>
            <a:endParaRPr lang="en-US" sz="1000" i="1" dirty="0">
              <a:solidFill>
                <a:srgbClr val="5A9A7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AA524A-7AE9-AC93-386C-4D89C39C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962923-221F-1163-107C-A8F00799B45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88680D3-DF77-6F10-FF52-E61EEE44A384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97A318A-0BBF-E70F-6296-5C5A562ECA46}"/>
              </a:ext>
            </a:extLst>
          </p:cNvPr>
          <p:cNvSpPr/>
          <p:nvPr/>
        </p:nvSpPr>
        <p:spPr>
          <a:xfrm>
            <a:off x="383013" y="1067952"/>
            <a:ext cx="3840480" cy="1554480"/>
          </a:xfrm>
          <a:prstGeom prst="rect">
            <a:avLst/>
          </a:prstGeom>
          <a:solidFill>
            <a:srgbClr val="F1F5F2"/>
          </a:solidFill>
          <a:ln w="6350">
            <a:solidFill>
              <a:srgbClr val="C8DDD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BF5F26C5-88AD-B7D8-DDAF-ACC8958F4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893" y="1205112"/>
            <a:ext cx="640080" cy="640080"/>
          </a:xfrm>
          <a:prstGeom prst="rect">
            <a:avLst/>
          </a:prstGeom>
        </p:spPr>
      </p:pic>
      <p:sp>
        <p:nvSpPr>
          <p:cNvPr id="21" name="Text 5">
            <a:extLst>
              <a:ext uri="{FF2B5EF4-FFF2-40B4-BE49-F238E27FC236}">
                <a16:creationId xmlns:a16="http://schemas.microsoft.com/office/drawing/2014/main" id="{F01CC1F5-CA0B-1200-5DB3-16CC429E2802}"/>
              </a:ext>
            </a:extLst>
          </p:cNvPr>
          <p:cNvSpPr/>
          <p:nvPr/>
        </p:nvSpPr>
        <p:spPr>
          <a:xfrm>
            <a:off x="1343133" y="12051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Barcelona</a:t>
            </a:r>
            <a:endParaRPr lang="en-US" sz="13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9BEED43B-116B-2EC0-06BE-FB2F3C564127}"/>
              </a:ext>
            </a:extLst>
          </p:cNvPr>
          <p:cNvSpPr/>
          <p:nvPr/>
        </p:nvSpPr>
        <p:spPr>
          <a:xfrm>
            <a:off x="1343133" y="152515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Servei</a:t>
            </a:r>
            <a:r>
              <a:rPr lang="en-US" sz="10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Bicing — </a:t>
            </a:r>
            <a:r>
              <a:rPr lang="en-US" sz="10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Disponibilitat</a:t>
            </a:r>
            <a:r>
              <a:rPr lang="en-US" sz="10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d’estacions</a:t>
            </a:r>
            <a:endParaRPr lang="en-US" sz="10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C8CEEB86-5C25-CEA2-411D-764465B4AF27}"/>
              </a:ext>
            </a:extLst>
          </p:cNvPr>
          <p:cNvSpPr/>
          <p:nvPr/>
        </p:nvSpPr>
        <p:spPr>
          <a:xfrm>
            <a:off x="565893" y="18909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07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opendata-ajuntament.barcelona.cat</a:t>
            </a:r>
            <a:endParaRPr lang="en-US" sz="900" dirty="0"/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60D1985E-0131-C22D-1A50-207AF9CD3D81}"/>
              </a:ext>
            </a:extLst>
          </p:cNvPr>
          <p:cNvSpPr/>
          <p:nvPr/>
        </p:nvSpPr>
        <p:spPr>
          <a:xfrm>
            <a:off x="4589253" y="1067952"/>
            <a:ext cx="4206240" cy="475488"/>
          </a:xfrm>
          <a:prstGeom prst="rect">
            <a:avLst/>
          </a:prstGeom>
          <a:solidFill>
            <a:srgbClr val="F1F5F2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B2B1770B-77D7-73BB-1C7C-BC3F56822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693" y="1113672"/>
            <a:ext cx="384048" cy="384048"/>
          </a:xfrm>
          <a:prstGeom prst="rect">
            <a:avLst/>
          </a:prstGeom>
        </p:spPr>
      </p:pic>
      <p:sp>
        <p:nvSpPr>
          <p:cNvPr id="27" name="Text 11">
            <a:extLst>
              <a:ext uri="{FF2B5EF4-FFF2-40B4-BE49-F238E27FC236}">
                <a16:creationId xmlns:a16="http://schemas.microsoft.com/office/drawing/2014/main" id="{FEEC564F-09A6-58E1-A2FF-E255C3A1A77F}"/>
              </a:ext>
            </a:extLst>
          </p:cNvPr>
          <p:cNvSpPr/>
          <p:nvPr/>
        </p:nvSpPr>
        <p:spPr>
          <a:xfrm>
            <a:off x="5183613" y="11045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endParaRPr lang="en-US" sz="11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DD8558FA-6197-3E7B-6495-991169FC5FA5}"/>
              </a:ext>
            </a:extLst>
          </p:cNvPr>
          <p:cNvSpPr/>
          <p:nvPr/>
        </p:nvSpPr>
        <p:spPr>
          <a:xfrm>
            <a:off x="5183613" y="1314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Emmagatzament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291M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registres</a:t>
            </a:r>
            <a:endParaRPr lang="en-US" sz="900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6E09F885-B057-954B-B2ED-F93A4D523421}"/>
              </a:ext>
            </a:extLst>
          </p:cNvPr>
          <p:cNvSpPr/>
          <p:nvPr/>
        </p:nvSpPr>
        <p:spPr>
          <a:xfrm>
            <a:off x="4589253" y="1616592"/>
            <a:ext cx="4206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7730F17F-D655-DF3A-E75D-C3B829BEB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693" y="1662312"/>
            <a:ext cx="384048" cy="384048"/>
          </a:xfrm>
          <a:prstGeom prst="rect">
            <a:avLst/>
          </a:prstGeom>
        </p:spPr>
      </p:pic>
      <p:sp>
        <p:nvSpPr>
          <p:cNvPr id="31" name="Text 14">
            <a:extLst>
              <a:ext uri="{FF2B5EF4-FFF2-40B4-BE49-F238E27FC236}">
                <a16:creationId xmlns:a16="http://schemas.microsoft.com/office/drawing/2014/main" id="{33E31794-A748-8751-BEB8-AA67B7D89652}"/>
              </a:ext>
            </a:extLst>
          </p:cNvPr>
          <p:cNvSpPr/>
          <p:nvPr/>
        </p:nvSpPr>
        <p:spPr>
          <a:xfrm>
            <a:off x="5183613" y="16531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Pandas</a:t>
            </a:r>
            <a:endParaRPr lang="en-US" sz="1100" dirty="0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B4801A14-9459-E801-6C19-23DB5D3C63E2}"/>
              </a:ext>
            </a:extLst>
          </p:cNvPr>
          <p:cNvSpPr/>
          <p:nvPr/>
        </p:nvSpPr>
        <p:spPr>
          <a:xfrm>
            <a:off x="5183613" y="186348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Anàlisi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dades</a:t>
            </a:r>
            <a:endParaRPr lang="en-US" sz="900" dirty="0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9C947ED6-A7E1-F38D-2161-7060107EA9D2}"/>
              </a:ext>
            </a:extLst>
          </p:cNvPr>
          <p:cNvSpPr/>
          <p:nvPr/>
        </p:nvSpPr>
        <p:spPr>
          <a:xfrm>
            <a:off x="4589253" y="2165232"/>
            <a:ext cx="4206240" cy="475488"/>
          </a:xfrm>
          <a:prstGeom prst="rect">
            <a:avLst/>
          </a:prstGeom>
          <a:solidFill>
            <a:srgbClr val="F1F5F2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4" name="Image 3" descr="preencoded.png">
            <a:extLst>
              <a:ext uri="{FF2B5EF4-FFF2-40B4-BE49-F238E27FC236}">
                <a16:creationId xmlns:a16="http://schemas.microsoft.com/office/drawing/2014/main" id="{AEE64BF4-D988-C7D1-DDED-F2063A59B6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693" y="2210952"/>
            <a:ext cx="384048" cy="384048"/>
          </a:xfrm>
          <a:prstGeom prst="rect">
            <a:avLst/>
          </a:prstGeom>
        </p:spPr>
      </p:pic>
      <p:sp>
        <p:nvSpPr>
          <p:cNvPr id="35" name="Text 17">
            <a:extLst>
              <a:ext uri="{FF2B5EF4-FFF2-40B4-BE49-F238E27FC236}">
                <a16:creationId xmlns:a16="http://schemas.microsoft.com/office/drawing/2014/main" id="{D563FD38-3023-70EE-3B4D-57ECBB7B2C86}"/>
              </a:ext>
            </a:extLst>
          </p:cNvPr>
          <p:cNvSpPr/>
          <p:nvPr/>
        </p:nvSpPr>
        <p:spPr>
          <a:xfrm>
            <a:off x="5183613" y="22018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81BA6D6C-9E6E-521F-4396-309FD012BFB6}"/>
              </a:ext>
            </a:extLst>
          </p:cNvPr>
          <p:cNvSpPr/>
          <p:nvPr/>
        </p:nvSpPr>
        <p:spPr>
          <a:xfrm>
            <a:off x="5183613" y="24121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K-Means y Random Forest</a:t>
            </a:r>
            <a:endParaRPr lang="en-US" sz="900" dirty="0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930FD3D1-F46A-DAB6-B540-745A31B7C676}"/>
              </a:ext>
            </a:extLst>
          </p:cNvPr>
          <p:cNvSpPr/>
          <p:nvPr/>
        </p:nvSpPr>
        <p:spPr>
          <a:xfrm>
            <a:off x="4589253" y="2713872"/>
            <a:ext cx="4206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8" name="Image 4" descr="preencoded.png">
            <a:extLst>
              <a:ext uri="{FF2B5EF4-FFF2-40B4-BE49-F238E27FC236}">
                <a16:creationId xmlns:a16="http://schemas.microsoft.com/office/drawing/2014/main" id="{E8CDF67E-5C56-9D8F-6046-856999166C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0693" y="2759592"/>
            <a:ext cx="384048" cy="384048"/>
          </a:xfrm>
          <a:prstGeom prst="rect">
            <a:avLst/>
          </a:prstGeom>
        </p:spPr>
      </p:pic>
      <p:sp>
        <p:nvSpPr>
          <p:cNvPr id="39" name="Text 20">
            <a:extLst>
              <a:ext uri="{FF2B5EF4-FFF2-40B4-BE49-F238E27FC236}">
                <a16:creationId xmlns:a16="http://schemas.microsoft.com/office/drawing/2014/main" id="{E0E201CD-934F-9443-53AA-9FAC21617D4E}"/>
              </a:ext>
            </a:extLst>
          </p:cNvPr>
          <p:cNvSpPr/>
          <p:nvPr/>
        </p:nvSpPr>
        <p:spPr>
          <a:xfrm>
            <a:off x="5183613" y="275044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</a:t>
            </a:r>
            <a:endParaRPr lang="en-US" sz="1100" dirty="0"/>
          </a:p>
        </p:txBody>
      </p:sp>
      <p:sp>
        <p:nvSpPr>
          <p:cNvPr id="40" name="Text 21">
            <a:extLst>
              <a:ext uri="{FF2B5EF4-FFF2-40B4-BE49-F238E27FC236}">
                <a16:creationId xmlns:a16="http://schemas.microsoft.com/office/drawing/2014/main" id="{C3A16212-E058-70DE-2B71-3BD692E60CD1}"/>
              </a:ext>
            </a:extLst>
          </p:cNvPr>
          <p:cNvSpPr/>
          <p:nvPr/>
        </p:nvSpPr>
        <p:spPr>
          <a:xfrm>
            <a:off x="5183613" y="29607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Mapes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interactius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d’estacions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clústeres</a:t>
            </a:r>
            <a:endParaRPr lang="en-US" sz="900" dirty="0"/>
          </a:p>
        </p:txBody>
      </p:sp>
      <p:sp>
        <p:nvSpPr>
          <p:cNvPr id="41" name="Shape 22">
            <a:extLst>
              <a:ext uri="{FF2B5EF4-FFF2-40B4-BE49-F238E27FC236}">
                <a16:creationId xmlns:a16="http://schemas.microsoft.com/office/drawing/2014/main" id="{8003050F-37C1-00ED-56BA-80B9D326F4FF}"/>
              </a:ext>
            </a:extLst>
          </p:cNvPr>
          <p:cNvSpPr/>
          <p:nvPr/>
        </p:nvSpPr>
        <p:spPr>
          <a:xfrm>
            <a:off x="4589253" y="3262512"/>
            <a:ext cx="4206240" cy="475488"/>
          </a:xfrm>
          <a:prstGeom prst="rect">
            <a:avLst/>
          </a:prstGeom>
          <a:solidFill>
            <a:srgbClr val="F1F5F2"/>
          </a:solidFill>
          <a:ln w="381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2" name="Image 5" descr="preencoded.png">
            <a:extLst>
              <a:ext uri="{FF2B5EF4-FFF2-40B4-BE49-F238E27FC236}">
                <a16:creationId xmlns:a16="http://schemas.microsoft.com/office/drawing/2014/main" id="{7FC07652-B3AC-EA01-F10D-47663020421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0693" y="3308232"/>
            <a:ext cx="384048" cy="384048"/>
          </a:xfrm>
          <a:prstGeom prst="rect">
            <a:avLst/>
          </a:prstGeom>
        </p:spPr>
      </p:pic>
      <p:sp>
        <p:nvSpPr>
          <p:cNvPr id="43" name="Text 23">
            <a:extLst>
              <a:ext uri="{FF2B5EF4-FFF2-40B4-BE49-F238E27FC236}">
                <a16:creationId xmlns:a16="http://schemas.microsoft.com/office/drawing/2014/main" id="{5FC22A22-A015-B401-C589-DE896DD8E07E}"/>
              </a:ext>
            </a:extLst>
          </p:cNvPr>
          <p:cNvSpPr/>
          <p:nvPr/>
        </p:nvSpPr>
        <p:spPr>
          <a:xfrm>
            <a:off x="5183613" y="3299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/ Seaborn</a:t>
            </a:r>
            <a:endParaRPr lang="en-US" sz="1100" dirty="0"/>
          </a:p>
        </p:txBody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54051F50-2CAC-C920-4F5F-4547B357A51B}"/>
              </a:ext>
            </a:extLst>
          </p:cNvPr>
          <p:cNvSpPr/>
          <p:nvPr/>
        </p:nvSpPr>
        <p:spPr>
          <a:xfrm>
            <a:off x="5183613" y="35094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Visualitzacions</a:t>
            </a:r>
            <a:r>
              <a:rPr lang="en-US" sz="9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estàtiques</a:t>
            </a:r>
            <a:endParaRPr lang="en-US" sz="900" dirty="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8E0D1171-81B3-A6DD-2466-A446FF4988E3}"/>
              </a:ext>
            </a:extLst>
          </p:cNvPr>
          <p:cNvSpPr/>
          <p:nvPr/>
        </p:nvSpPr>
        <p:spPr>
          <a:xfrm>
            <a:off x="255343" y="3960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DE DADES</a:t>
            </a: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130D9A93-DD6B-7580-9A04-D408EE585783}"/>
              </a:ext>
            </a:extLst>
          </p:cNvPr>
          <p:cNvSpPr/>
          <p:nvPr/>
        </p:nvSpPr>
        <p:spPr>
          <a:xfrm>
            <a:off x="4480560" y="3834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EINES</a:t>
            </a:r>
          </a:p>
        </p:txBody>
      </p:sp>
    </p:spTree>
    <p:extLst>
      <p:ext uri="{BB962C8B-B14F-4D97-AF65-F5344CB8AC3E}">
        <p14:creationId xmlns:p14="http://schemas.microsoft.com/office/powerpoint/2010/main" val="1845554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753B1BDF-0F2E-E2E4-6096-7B2CE504418D}"/>
              </a:ext>
            </a:extLst>
          </p:cNvPr>
          <p:cNvSpPr/>
          <p:nvPr/>
        </p:nvSpPr>
        <p:spPr>
          <a:xfrm>
            <a:off x="690786" y="1142445"/>
            <a:ext cx="4754880" cy="914400"/>
          </a:xfrm>
          <a:prstGeom prst="rect">
            <a:avLst/>
          </a:prstGeom>
          <a:solidFill>
            <a:srgbClr val="CCCCCC">
              <a:alpha val="40000"/>
            </a:srgbClr>
          </a:solidFill>
          <a:ln w="12700">
            <a:solidFill>
              <a:srgbClr val="CCCCC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7AB0C041-82B2-4A6C-72E0-9AC930F32541}"/>
              </a:ext>
            </a:extLst>
          </p:cNvPr>
          <p:cNvSpPr/>
          <p:nvPr/>
        </p:nvSpPr>
        <p:spPr>
          <a:xfrm>
            <a:off x="635922" y="1087581"/>
            <a:ext cx="4754880" cy="914400"/>
          </a:xfrm>
          <a:prstGeom prst="rect">
            <a:avLst/>
          </a:prstGeom>
          <a:solidFill>
            <a:srgbClr val="F4F8F6"/>
          </a:solidFill>
          <a:ln w="6350">
            <a:solidFill>
              <a:srgbClr val="D0E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15E74440-96A9-9374-4CBB-75516449AF2B}"/>
              </a:ext>
            </a:extLst>
          </p:cNvPr>
          <p:cNvSpPr/>
          <p:nvPr/>
        </p:nvSpPr>
        <p:spPr>
          <a:xfrm>
            <a:off x="635922" y="1087581"/>
            <a:ext cx="73152" cy="91440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1CFD4FEB-F520-916F-D623-7ED63BC33137}"/>
              </a:ext>
            </a:extLst>
          </p:cNvPr>
          <p:cNvSpPr/>
          <p:nvPr/>
        </p:nvSpPr>
        <p:spPr>
          <a:xfrm>
            <a:off x="745650" y="1197309"/>
            <a:ext cx="384048" cy="38404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13F059FA-DA78-A649-7087-C0E25AF881AB}"/>
              </a:ext>
            </a:extLst>
          </p:cNvPr>
          <p:cNvSpPr/>
          <p:nvPr/>
        </p:nvSpPr>
        <p:spPr>
          <a:xfrm>
            <a:off x="745650" y="11973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B66EB67A-B134-D0E3-6D61-17A266A45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850" y="1160733"/>
            <a:ext cx="749808" cy="749808"/>
          </a:xfrm>
          <a:prstGeom prst="rect">
            <a:avLst/>
          </a:prstGeom>
        </p:spPr>
      </p:pic>
      <p:sp>
        <p:nvSpPr>
          <p:cNvPr id="25" name="Text 8">
            <a:extLst>
              <a:ext uri="{FF2B5EF4-FFF2-40B4-BE49-F238E27FC236}">
                <a16:creationId xmlns:a16="http://schemas.microsoft.com/office/drawing/2014/main" id="{7AF38341-7D5C-A700-4930-47F0A5979B96}"/>
              </a:ext>
            </a:extLst>
          </p:cNvPr>
          <p:cNvSpPr/>
          <p:nvPr/>
        </p:nvSpPr>
        <p:spPr>
          <a:xfrm>
            <a:off x="2062664" y="1325325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¿Quina </a:t>
            </a:r>
            <a:r>
              <a:rPr lang="en-US" sz="18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gravetat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1A6DD862-07EE-CCA9-DB15-0B05DA0765D0}"/>
              </a:ext>
            </a:extLst>
          </p:cNvPr>
          <p:cNvSpPr/>
          <p:nvPr/>
        </p:nvSpPr>
        <p:spPr>
          <a:xfrm>
            <a:off x="1696626" y="2331165"/>
            <a:ext cx="4754880" cy="914400"/>
          </a:xfrm>
          <a:prstGeom prst="rect">
            <a:avLst/>
          </a:prstGeom>
          <a:solidFill>
            <a:srgbClr val="CCCCCC">
              <a:alpha val="40000"/>
            </a:srgbClr>
          </a:solidFill>
          <a:ln w="12700">
            <a:solidFill>
              <a:srgbClr val="CCCCC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23185F39-B179-6FD5-E349-49F9C9D08F5A}"/>
              </a:ext>
            </a:extLst>
          </p:cNvPr>
          <p:cNvSpPr/>
          <p:nvPr/>
        </p:nvSpPr>
        <p:spPr>
          <a:xfrm>
            <a:off x="1641762" y="2276301"/>
            <a:ext cx="4754880" cy="914400"/>
          </a:xfrm>
          <a:prstGeom prst="rect">
            <a:avLst/>
          </a:prstGeom>
          <a:solidFill>
            <a:srgbClr val="F4F8F6"/>
          </a:solidFill>
          <a:ln w="6350">
            <a:solidFill>
              <a:srgbClr val="D0E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F3FDEA64-345D-9362-562F-4A22BE6B908D}"/>
              </a:ext>
            </a:extLst>
          </p:cNvPr>
          <p:cNvSpPr/>
          <p:nvPr/>
        </p:nvSpPr>
        <p:spPr>
          <a:xfrm>
            <a:off x="1641762" y="2276301"/>
            <a:ext cx="73152" cy="9144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9B9AC922-80BC-64A9-5C8C-8AD0ACD74F0A}"/>
              </a:ext>
            </a:extLst>
          </p:cNvPr>
          <p:cNvSpPr/>
          <p:nvPr/>
        </p:nvSpPr>
        <p:spPr>
          <a:xfrm>
            <a:off x="1751490" y="2386029"/>
            <a:ext cx="384048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1A8F2D68-035E-33CE-98BB-04237DF8C886}"/>
              </a:ext>
            </a:extLst>
          </p:cNvPr>
          <p:cNvSpPr/>
          <p:nvPr/>
        </p:nvSpPr>
        <p:spPr>
          <a:xfrm>
            <a:off x="1751490" y="2386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pic>
        <p:nvPicPr>
          <p:cNvPr id="32" name="Image 2" descr="preencoded.png">
            <a:extLst>
              <a:ext uri="{FF2B5EF4-FFF2-40B4-BE49-F238E27FC236}">
                <a16:creationId xmlns:a16="http://schemas.microsoft.com/office/drawing/2014/main" id="{77FFE49A-1D23-EC2E-FD58-E1CFD1CC0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690" y="2349453"/>
            <a:ext cx="749808" cy="749808"/>
          </a:xfrm>
          <a:prstGeom prst="rect">
            <a:avLst/>
          </a:prstGeom>
        </p:spPr>
      </p:pic>
      <p:sp>
        <p:nvSpPr>
          <p:cNvPr id="33" name="Text 15">
            <a:extLst>
              <a:ext uri="{FF2B5EF4-FFF2-40B4-BE49-F238E27FC236}">
                <a16:creationId xmlns:a16="http://schemas.microsoft.com/office/drawing/2014/main" id="{9C7D5B8E-D4AA-7E3E-5586-5628DEB0CD40}"/>
              </a:ext>
            </a:extLst>
          </p:cNvPr>
          <p:cNvSpPr/>
          <p:nvPr/>
        </p:nvSpPr>
        <p:spPr>
          <a:xfrm>
            <a:off x="3059082" y="246444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</a:t>
            </a:r>
            <a:r>
              <a:rPr lang="en-US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uan </a:t>
            </a:r>
            <a:r>
              <a:rPr lang="en-US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es </a:t>
            </a:r>
            <a:r>
              <a:rPr lang="en-US" sz="18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produeix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35" name="Shape 17">
            <a:extLst>
              <a:ext uri="{FF2B5EF4-FFF2-40B4-BE49-F238E27FC236}">
                <a16:creationId xmlns:a16="http://schemas.microsoft.com/office/drawing/2014/main" id="{56234BC5-BE91-7658-5CCF-A93F92844BDC}"/>
              </a:ext>
            </a:extLst>
          </p:cNvPr>
          <p:cNvSpPr/>
          <p:nvPr/>
        </p:nvSpPr>
        <p:spPr>
          <a:xfrm>
            <a:off x="2702466" y="3519885"/>
            <a:ext cx="4754880" cy="914400"/>
          </a:xfrm>
          <a:prstGeom prst="rect">
            <a:avLst/>
          </a:prstGeom>
          <a:solidFill>
            <a:srgbClr val="CCCCCC">
              <a:alpha val="40000"/>
            </a:srgbClr>
          </a:solidFill>
          <a:ln w="12700">
            <a:solidFill>
              <a:srgbClr val="CCCCC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18">
            <a:extLst>
              <a:ext uri="{FF2B5EF4-FFF2-40B4-BE49-F238E27FC236}">
                <a16:creationId xmlns:a16="http://schemas.microsoft.com/office/drawing/2014/main" id="{AA4AA708-DD61-7DD4-CAFA-08B291758C3E}"/>
              </a:ext>
            </a:extLst>
          </p:cNvPr>
          <p:cNvSpPr/>
          <p:nvPr/>
        </p:nvSpPr>
        <p:spPr>
          <a:xfrm>
            <a:off x="2647602" y="3465021"/>
            <a:ext cx="4754880" cy="914400"/>
          </a:xfrm>
          <a:prstGeom prst="rect">
            <a:avLst/>
          </a:prstGeom>
          <a:solidFill>
            <a:srgbClr val="F4F8F6"/>
          </a:solidFill>
          <a:ln w="6350">
            <a:solidFill>
              <a:srgbClr val="D0E4D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768398E6-8F00-4910-D75C-FCFC606BE41C}"/>
              </a:ext>
            </a:extLst>
          </p:cNvPr>
          <p:cNvSpPr/>
          <p:nvPr/>
        </p:nvSpPr>
        <p:spPr>
          <a:xfrm>
            <a:off x="2647602" y="3465021"/>
            <a:ext cx="73152" cy="91440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Shape 20">
            <a:extLst>
              <a:ext uri="{FF2B5EF4-FFF2-40B4-BE49-F238E27FC236}">
                <a16:creationId xmlns:a16="http://schemas.microsoft.com/office/drawing/2014/main" id="{A96754F2-E546-B9DF-731A-911F71890103}"/>
              </a:ext>
            </a:extLst>
          </p:cNvPr>
          <p:cNvSpPr/>
          <p:nvPr/>
        </p:nvSpPr>
        <p:spPr>
          <a:xfrm>
            <a:off x="2757330" y="3574749"/>
            <a:ext cx="384048" cy="38404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01CE2019-78E3-F5A0-67D9-F9BE7D281714}"/>
              </a:ext>
            </a:extLst>
          </p:cNvPr>
          <p:cNvSpPr/>
          <p:nvPr/>
        </p:nvSpPr>
        <p:spPr>
          <a:xfrm>
            <a:off x="2757330" y="35747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pic>
        <p:nvPicPr>
          <p:cNvPr id="40" name="Image 3" descr="preencoded.png">
            <a:extLst>
              <a:ext uri="{FF2B5EF4-FFF2-40B4-BE49-F238E27FC236}">
                <a16:creationId xmlns:a16="http://schemas.microsoft.com/office/drawing/2014/main" id="{A7F67F07-E5AF-8936-51B2-838DFDCEE9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4530" y="3538173"/>
            <a:ext cx="749808" cy="749808"/>
          </a:xfrm>
          <a:prstGeom prst="rect">
            <a:avLst/>
          </a:prstGeom>
        </p:spPr>
      </p:pic>
      <p:sp>
        <p:nvSpPr>
          <p:cNvPr id="41" name="Text 22">
            <a:extLst>
              <a:ext uri="{FF2B5EF4-FFF2-40B4-BE49-F238E27FC236}">
                <a16:creationId xmlns:a16="http://schemas.microsoft.com/office/drawing/2014/main" id="{D332D3A2-2111-F5D5-DF75-59F487CBA3BE}"/>
              </a:ext>
            </a:extLst>
          </p:cNvPr>
          <p:cNvSpPr/>
          <p:nvPr/>
        </p:nvSpPr>
        <p:spPr>
          <a:xfrm>
            <a:off x="4083210" y="36896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pot </a:t>
            </a:r>
            <a:r>
              <a:rPr lang="en-US" sz="18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predir</a:t>
            </a:r>
            <a:r>
              <a:rPr lang="en-US" sz="1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6203D171-A7BB-3245-2FF3-D309083442B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4412672" y="471054"/>
            <a:ext cx="4754880" cy="2377440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5B14F849-3E4F-EB4C-5CC9-FB17BBD6BF47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Preguntes</a:t>
            </a: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recerca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3E05D2-19CB-0075-808C-A72C9A348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9E108F-6E3E-429A-E07A-9739766A7CAA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E4476E-3851-B936-61EF-ACC8FFCE530B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servei Bicing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53A4D2-9A7C-8614-54F8-ACCAE3F8CA68}"/>
              </a:ext>
            </a:extLst>
          </p:cNvPr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xarxa de bicicletes compartides més gran de Barcelona</a:t>
            </a:r>
            <a:endParaRPr lang="en-US" sz="1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0AA235A-5600-8524-A068-75E7B2521FA5}"/>
              </a:ext>
            </a:extLst>
          </p:cNvPr>
          <p:cNvSpPr/>
          <p:nvPr/>
        </p:nvSpPr>
        <p:spPr>
          <a:xfrm>
            <a:off x="5595072" y="1371600"/>
            <a:ext cx="291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548</a:t>
            </a:r>
            <a:endParaRPr lang="en-US" sz="4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AEF8893-14A6-AE0A-3E34-52D7742E08A0}"/>
              </a:ext>
            </a:extLst>
          </p:cNvPr>
          <p:cNvSpPr/>
          <p:nvPr/>
        </p:nvSpPr>
        <p:spPr>
          <a:xfrm>
            <a:off x="5595072" y="1965960"/>
            <a:ext cx="291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estacions actives</a:t>
            </a:r>
            <a:endParaRPr lang="en-US" sz="14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D87BB91-7A6B-92E0-0368-9FF561C03406}"/>
              </a:ext>
            </a:extLst>
          </p:cNvPr>
          <p:cNvSpPr/>
          <p:nvPr/>
        </p:nvSpPr>
        <p:spPr>
          <a:xfrm>
            <a:off x="5595072" y="2423160"/>
            <a:ext cx="2546740" cy="0"/>
          </a:xfrm>
          <a:prstGeom prst="line">
            <a:avLst/>
          </a:prstGeom>
          <a:noFill/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394A788-C5A5-0033-2B68-BC69F2E63C24}"/>
              </a:ext>
            </a:extLst>
          </p:cNvPr>
          <p:cNvSpPr/>
          <p:nvPr/>
        </p:nvSpPr>
        <p:spPr>
          <a:xfrm>
            <a:off x="5595072" y="2560320"/>
            <a:ext cx="291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~1.1 M</a:t>
            </a:r>
            <a:endParaRPr lang="en-US" sz="4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8446E64-98C7-527F-BD4F-B93C93CC901A}"/>
              </a:ext>
            </a:extLst>
          </p:cNvPr>
          <p:cNvSpPr/>
          <p:nvPr/>
        </p:nvSpPr>
        <p:spPr>
          <a:xfrm>
            <a:off x="5595072" y="3154680"/>
            <a:ext cx="291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viatges / mes (mitjana 2024)</a:t>
            </a:r>
            <a:endParaRPr lang="en-US" sz="14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468DB9B-D5BE-88E3-64B1-1E882CCE7660}"/>
              </a:ext>
            </a:extLst>
          </p:cNvPr>
          <p:cNvSpPr/>
          <p:nvPr/>
        </p:nvSpPr>
        <p:spPr>
          <a:xfrm>
            <a:off x="5595072" y="3611880"/>
            <a:ext cx="2546740" cy="0"/>
          </a:xfrm>
          <a:prstGeom prst="line">
            <a:avLst/>
          </a:prstGeom>
          <a:noFill/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6DB88BAE-304B-3B09-D445-C27DFC734DFC}"/>
              </a:ext>
            </a:extLst>
          </p:cNvPr>
          <p:cNvSpPr/>
          <p:nvPr/>
        </p:nvSpPr>
        <p:spPr>
          <a:xfrm>
            <a:off x="5595072" y="3749040"/>
            <a:ext cx="291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M</a:t>
            </a:r>
            <a:endParaRPr lang="en-US" sz="48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4998626-B5A0-D9D9-7F40-822B017B2C6F}"/>
              </a:ext>
            </a:extLst>
          </p:cNvPr>
          <p:cNvSpPr/>
          <p:nvPr/>
        </p:nvSpPr>
        <p:spPr>
          <a:xfrm>
            <a:off x="5595072" y="4343400"/>
            <a:ext cx="291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mesuraments analitzats (2020–2025)</a:t>
            </a:r>
            <a:endParaRPr lang="en-US" sz="14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A44B4D5-2C61-068C-20AB-0C2BE12FC92E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  <p:pic>
        <p:nvPicPr>
          <p:cNvPr id="15" name="Imagen 14">
            <a:hlinkClick r:id="rId3" action="ppaction://hlinkfile"/>
            <a:extLst>
              <a:ext uri="{FF2B5EF4-FFF2-40B4-BE49-F238E27FC236}">
                <a16:creationId xmlns:a16="http://schemas.microsoft.com/office/drawing/2014/main" id="{7C59EDF4-4630-7FFE-09BD-01F7C1969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584" y="1257056"/>
            <a:ext cx="4923850" cy="347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039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 dels viatges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Bicing ha crescut de manera sostinguda des de la pandèmia, amb un rècord d'1.24 M viatges al mes el 2024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Open Data Barcelona · Servei Bicing · Elaboració pròpia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095CA7D-E7E8-D9DF-8447-6F77A1D13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56067"/>
            <a:ext cx="8412480" cy="31216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Estacionalitat</a:t>
            </a:r>
            <a:r>
              <a:rPr lang="es-E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s-E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Bicing</a:t>
            </a:r>
            <a:r>
              <a:rPr lang="es-E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hora, </a:t>
            </a:r>
            <a:r>
              <a:rPr lang="es-ES" sz="3200" b="1" dirty="0" err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s-ES" sz="3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mes</a:t>
            </a:r>
            <a:endParaRPr lang="en-US" sz="3200" b="1" dirty="0">
              <a:solidFill>
                <a:srgbClr val="1B433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Pics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laborables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 les 8h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18h,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descens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l'agost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creixement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sostingut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any </a:t>
            </a:r>
            <a:r>
              <a:rPr lang="en-US" sz="14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rere</a:t>
            </a: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any</a:t>
            </a:r>
          </a:p>
        </p:txBody>
      </p:sp>
      <p:sp>
        <p:nvSpPr>
          <p:cNvPr id="7" name="Text 3"/>
          <p:cNvSpPr/>
          <p:nvPr/>
        </p:nvSpPr>
        <p:spPr>
          <a:xfrm>
            <a:off x="4572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Open Data Barcelona · Servei Bicing · Elaboració pròpia · Període 2022–2025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  <p:pic>
        <p:nvPicPr>
          <p:cNvPr id="10" name="Imagen 9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A2318613-9248-25A0-95CC-AB9353371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99" y="1417983"/>
            <a:ext cx="3729001" cy="2396943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3B0E935-7377-5115-D3F2-21743F154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219" y="1414308"/>
            <a:ext cx="4243579" cy="22489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28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estacions buides i plenes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15–25% del temps, les estacions no tenen bicicletes o no tenen anclatges lliures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FBE9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4"/>
          <p:cNvSpPr/>
          <p:nvPr/>
        </p:nvSpPr>
        <p:spPr>
          <a:xfrm>
            <a:off x="640080" y="4160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estacions buides (vermell) són el problema dominant: fins al 25% de les franges de 30 min sense cap bicicleta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Franges de 30 min amb 0 bicis (buida) o 0 anclatges (plena) · 2022–2025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237255FD-44A6-2E24-3339-2D4945EA9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23802"/>
            <a:ext cx="8366760" cy="25749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passa? Hora i dia de la setmana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Estacions buides: pic al matí (8–10h), quan la gent agafa bicis per anar a treballar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  <p:pic>
        <p:nvPicPr>
          <p:cNvPr id="9" name="Imagen 8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B716CB02-8063-F819-5967-098F0922D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427" y="3035523"/>
            <a:ext cx="5942225" cy="1902237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804C7CF-E0C6-420D-7AC5-84D1290D8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532" y="1133286"/>
            <a:ext cx="6169976" cy="19022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passa? Districtes i estacions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Sarrià-Sant Gervasi i Gràcia: &gt;30% del temps buides. Ciutat Vella i Sant Martí: problemes de plena.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45720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franges de 30 min amb estació completament buida o plena · 2022–2025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  <p:pic>
        <p:nvPicPr>
          <p:cNvPr id="10" name="Imagen 9" descr="Gráfico, Gráfico de barras, Gráfico de embudo&#10;&#10;El contenido generado por IA puede ser incorrecto.">
            <a:extLst>
              <a:ext uri="{FF2B5EF4-FFF2-40B4-BE49-F238E27FC236}">
                <a16:creationId xmlns:a16="http://schemas.microsoft.com/office/drawing/2014/main" id="{C04419E9-3D65-9972-DEEC-49C38490B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693" y="1403892"/>
            <a:ext cx="4613406" cy="251802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8EA4646-D11D-8B4B-D43B-31446648C842}"/>
              </a:ext>
            </a:extLst>
          </p:cNvPr>
          <p:cNvSpPr txBox="1"/>
          <p:nvPr/>
        </p:nvSpPr>
        <p:spPr>
          <a:xfrm>
            <a:off x="4796288" y="4629793"/>
            <a:ext cx="1371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700" i="1" dirty="0" err="1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Exemple</a:t>
            </a:r>
            <a:r>
              <a:rPr lang="es-ES" sz="7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700" i="1" dirty="0" err="1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Interactiu</a:t>
            </a:r>
            <a:r>
              <a:rPr lang="es-ES" sz="700" i="1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1 semana.</a:t>
            </a:r>
            <a:endParaRPr lang="es-ES" sz="600" dirty="0"/>
          </a:p>
        </p:txBody>
      </p:sp>
      <p:pic>
        <p:nvPicPr>
          <p:cNvPr id="15" name="Imagen 14">
            <a:hlinkClick r:id="rId5" action="ppaction://hlinkfile"/>
            <a:extLst>
              <a:ext uri="{FF2B5EF4-FFF2-40B4-BE49-F238E27FC236}">
                <a16:creationId xmlns:a16="http://schemas.microsoft.com/office/drawing/2014/main" id="{31B95BCB-C1CA-51D9-9395-F71C85DC1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2475" y="1083706"/>
            <a:ext cx="3554325" cy="35795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7A85DC-5EFF-58D5-7D47-69BEEC2C8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B54ED69-169E-474D-F3BC-AC7F8731374E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4761C5-50F4-54CE-8702-AF2670F77542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Tipologia d'estacions: 5 perfils d'ús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E28889-C8F4-CA0F-9B13-86F474D501B4}"/>
              </a:ext>
            </a:extLst>
          </p:cNvPr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Clustering K-Means </a:t>
            </a:r>
            <a:r>
              <a:rPr lang="en-US" sz="1300" dirty="0" err="1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amb</a:t>
            </a:r>
            <a:r>
              <a:rPr lang="en-US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28 features per identificar patrons diferenciats</a:t>
            </a:r>
            <a:endParaRPr lang="en-US" sz="13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554FC63C-548D-BA20-C754-54B81A44BE6C}"/>
              </a:ext>
            </a:extLst>
          </p:cNvPr>
          <p:cNvSpPr/>
          <p:nvPr/>
        </p:nvSpPr>
        <p:spPr>
          <a:xfrm>
            <a:off x="5654134" y="1379190"/>
            <a:ext cx="201168" cy="201168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B16C9FA-F676-5D61-D08F-9A41FFEFA3ED}"/>
              </a:ext>
            </a:extLst>
          </p:cNvPr>
          <p:cNvSpPr/>
          <p:nvPr/>
        </p:nvSpPr>
        <p:spPr>
          <a:xfrm>
            <a:off x="5929494" y="1306038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C0: Perifèric Baix Ús (132)</a:t>
            </a: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82BBAED-C22E-0CAF-B75F-95DCA172CDC8}"/>
              </a:ext>
            </a:extLst>
          </p:cNvPr>
          <p:cNvSpPr/>
          <p:nvPr/>
        </p:nvSpPr>
        <p:spPr>
          <a:xfrm>
            <a:off x="5929494" y="1580358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altes, poc trànsit, sovint buides</a:t>
            </a:r>
            <a:endParaRPr lang="en-US" sz="11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9E97745-2D3B-6691-CB04-1C0282FFC968}"/>
              </a:ext>
            </a:extLst>
          </p:cNvPr>
          <p:cNvSpPr/>
          <p:nvPr/>
        </p:nvSpPr>
        <p:spPr>
          <a:xfrm>
            <a:off x="5654134" y="2812858"/>
            <a:ext cx="201168" cy="201168"/>
          </a:xfrm>
          <a:prstGeom prst="ellipse">
            <a:avLst/>
          </a:prstGeom>
          <a:solidFill>
            <a:srgbClr val="3498D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ABE4FB8-1BC8-A59F-83F6-B99476702CEC}"/>
              </a:ext>
            </a:extLst>
          </p:cNvPr>
          <p:cNvSpPr/>
          <p:nvPr/>
        </p:nvSpPr>
        <p:spPr>
          <a:xfrm>
            <a:off x="5929494" y="2019270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C1: Central Alta Ocupació (42)</a:t>
            </a:r>
            <a:endParaRPr lang="en-US" sz="13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727D5E2-2082-CC98-793C-8A25F0DB1A77}"/>
              </a:ext>
            </a:extLst>
          </p:cNvPr>
          <p:cNvSpPr/>
          <p:nvPr/>
        </p:nvSpPr>
        <p:spPr>
          <a:xfrm>
            <a:off x="5929494" y="2293590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Centre, alta demanda, NAB alt matí i tarda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EE5C7498-9533-3DE9-DE3E-3172DFB786C1}"/>
              </a:ext>
            </a:extLst>
          </p:cNvPr>
          <p:cNvSpPr/>
          <p:nvPr/>
        </p:nvSpPr>
        <p:spPr>
          <a:xfrm>
            <a:off x="5654134" y="3526090"/>
            <a:ext cx="201168" cy="20116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65D932F-6332-E3A9-ED03-3DDFB04F6E49}"/>
              </a:ext>
            </a:extLst>
          </p:cNvPr>
          <p:cNvSpPr/>
          <p:nvPr/>
        </p:nvSpPr>
        <p:spPr>
          <a:xfrm>
            <a:off x="5929494" y="2732502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C2: Origen Commuter </a:t>
            </a:r>
            <a:r>
              <a:rPr lang="en-US" sz="1300" b="1" dirty="0" err="1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</a:t>
            </a: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(162)</a:t>
            </a:r>
            <a:endParaRPr lang="en-US" sz="13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A8E7949-A35E-B69E-BB2C-8C55888D4005}"/>
              </a:ext>
            </a:extLst>
          </p:cNvPr>
          <p:cNvSpPr/>
          <p:nvPr/>
        </p:nvSpPr>
        <p:spPr>
          <a:xfrm>
            <a:off x="5929494" y="3006822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Estacions d'origen, es buiden al matí</a:t>
            </a:r>
            <a:endParaRPr lang="en-US" sz="11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B47785D-9A40-1D4C-F65A-91B0EA996516}"/>
              </a:ext>
            </a:extLst>
          </p:cNvPr>
          <p:cNvSpPr/>
          <p:nvPr/>
        </p:nvSpPr>
        <p:spPr>
          <a:xfrm>
            <a:off x="5654134" y="4239322"/>
            <a:ext cx="201168" cy="201168"/>
          </a:xfrm>
          <a:prstGeom prst="ellipse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D5A1AFA-9B9A-FE08-FE81-0286F1F7CA40}"/>
              </a:ext>
            </a:extLst>
          </p:cNvPr>
          <p:cNvSpPr/>
          <p:nvPr/>
        </p:nvSpPr>
        <p:spPr>
          <a:xfrm>
            <a:off x="5929494" y="3445734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C3: Ús Mixt Equilibrat (122)</a:t>
            </a:r>
            <a:endParaRPr lang="en-US" sz="13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4E59DBA5-C0E9-AEB3-4D4F-95F8C8CE3BA3}"/>
              </a:ext>
            </a:extLst>
          </p:cNvPr>
          <p:cNvSpPr/>
          <p:nvPr/>
        </p:nvSpPr>
        <p:spPr>
          <a:xfrm>
            <a:off x="5929494" y="3720054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 equilibrat, capacitat gran</a:t>
            </a:r>
            <a:endParaRPr lang="en-US" sz="11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7FE4DCBD-088F-8B82-D500-A4587820898E}"/>
              </a:ext>
            </a:extLst>
          </p:cNvPr>
          <p:cNvSpPr/>
          <p:nvPr/>
        </p:nvSpPr>
        <p:spPr>
          <a:xfrm>
            <a:off x="5646275" y="2102230"/>
            <a:ext cx="201168" cy="201168"/>
          </a:xfrm>
          <a:prstGeom prst="ellipse">
            <a:avLst/>
          </a:prstGeom>
          <a:solidFill>
            <a:srgbClr val="FFFF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BB3E5B7-2A10-2448-C7B2-E3720B16366C}"/>
              </a:ext>
            </a:extLst>
          </p:cNvPr>
          <p:cNvSpPr/>
          <p:nvPr/>
        </p:nvSpPr>
        <p:spPr>
          <a:xfrm>
            <a:off x="5929494" y="4158966"/>
            <a:ext cx="255888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C4: Residencial Entrada Tarda (59)</a:t>
            </a:r>
            <a:endParaRPr lang="en-US" sz="13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B59EB20-F8FD-37F4-D746-76DAA15F6CE8}"/>
              </a:ext>
            </a:extLst>
          </p:cNvPr>
          <p:cNvSpPr/>
          <p:nvPr/>
        </p:nvSpPr>
        <p:spPr>
          <a:xfrm>
            <a:off x="5929494" y="4433286"/>
            <a:ext cx="255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95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residencials, s'omplen a la tarda</a:t>
            </a:r>
            <a:endParaRPr lang="en-US" sz="11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79BD2DA-8769-74AB-3D84-22C425DDE86C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  <p:pic>
        <p:nvPicPr>
          <p:cNvPr id="22" name="Imagen 21">
            <a:hlinkClick r:id="rId3" action="ppaction://hlinkfile"/>
            <a:extLst>
              <a:ext uri="{FF2B5EF4-FFF2-40B4-BE49-F238E27FC236}">
                <a16:creationId xmlns:a16="http://schemas.microsoft.com/office/drawing/2014/main" id="{588E19BE-2EBA-7E15-0245-3EED7B489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22640"/>
            <a:ext cx="4905605" cy="3608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943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8EBB40-2F08-B9BC-1D3D-A3BF4DB3A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C4C29E-6233-5104-7FB6-1A2652DAB32F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0A4B18D-8200-3A0D-745C-C8EDC39E7549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Perfils dels clústers: centroides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1C171C-6F1C-CBC3-44DF-BA8A215BE7C7}"/>
              </a:ext>
            </a:extLst>
          </p:cNvPr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Cada clúster té un perfil diferent segons capacitat, NAB, variabilitat i problemes de disponibilitat</a:t>
            </a:r>
            <a:endParaRPr lang="en-US" sz="130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A4777F64-2626-FEAB-5F56-0E994448C7F2}"/>
              </a:ext>
            </a:extLst>
          </p:cNvPr>
          <p:cNvSpPr/>
          <p:nvPr/>
        </p:nvSpPr>
        <p:spPr>
          <a:xfrm>
            <a:off x="457200" y="4297680"/>
            <a:ext cx="3931920" cy="502920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56C09C8-D2D2-BEAE-6682-E82FB2582B73}"/>
              </a:ext>
            </a:extLst>
          </p:cNvPr>
          <p:cNvSpPr/>
          <p:nvPr/>
        </p:nvSpPr>
        <p:spPr>
          <a:xfrm>
            <a:off x="59436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(Central): NAB més alt → alta ocupació constant</a:t>
            </a:r>
            <a:endParaRPr lang="en-US" sz="11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D7593C2E-6C11-CEC2-5CE6-F91FF78B3B49}"/>
              </a:ext>
            </a:extLst>
          </p:cNvPr>
          <p:cNvSpPr/>
          <p:nvPr/>
        </p:nvSpPr>
        <p:spPr>
          <a:xfrm>
            <a:off x="4754880" y="4297680"/>
            <a:ext cx="3931920" cy="502920"/>
          </a:xfrm>
          <a:prstGeom prst="rect">
            <a:avLst/>
          </a:prstGeom>
          <a:solidFill>
            <a:srgbClr val="FBE9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E57E0FC-3450-94CB-26D8-05647FEC54B5}"/>
              </a:ext>
            </a:extLst>
          </p:cNvPr>
          <p:cNvSpPr/>
          <p:nvPr/>
        </p:nvSpPr>
        <p:spPr>
          <a:xfrm>
            <a:off x="489204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 (Perifèric): Ratio buida alt → prioritat de redistribució</a:t>
            </a:r>
            <a:endParaRPr lang="en-US" sz="11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A465FD9-AC67-8D70-2BC0-61AF5830BE0C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BA45C63-C71C-B17F-ABA1-1CC0AE8357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927"/>
          <a:stretch>
            <a:fillRect/>
          </a:stretch>
        </p:blipFill>
        <p:spPr>
          <a:xfrm>
            <a:off x="686645" y="1145208"/>
            <a:ext cx="7746154" cy="3115395"/>
          </a:xfrm>
          <a:prstGeom prst="rect">
            <a:avLst/>
          </a:prstGeom>
        </p:spPr>
      </p:pic>
      <p:sp>
        <p:nvSpPr>
          <p:cNvPr id="14" name="Flecha: hacia abajo 13">
            <a:extLst>
              <a:ext uri="{FF2B5EF4-FFF2-40B4-BE49-F238E27FC236}">
                <a16:creationId xmlns:a16="http://schemas.microsoft.com/office/drawing/2014/main" id="{AB57C9FA-DE08-AD47-7C73-8F6ACB2AA983}"/>
              </a:ext>
            </a:extLst>
          </p:cNvPr>
          <p:cNvSpPr/>
          <p:nvPr/>
        </p:nvSpPr>
        <p:spPr>
          <a:xfrm>
            <a:off x="2844799" y="1691640"/>
            <a:ext cx="203200" cy="36576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CA212406-024A-444C-2875-29DE1F886CB2}"/>
              </a:ext>
            </a:extLst>
          </p:cNvPr>
          <p:cNvSpPr/>
          <p:nvPr/>
        </p:nvSpPr>
        <p:spPr>
          <a:xfrm>
            <a:off x="3835399" y="1234440"/>
            <a:ext cx="203200" cy="36576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1957921-938E-FF3F-338F-797661C324B3}"/>
              </a:ext>
            </a:extLst>
          </p:cNvPr>
          <p:cNvSpPr/>
          <p:nvPr/>
        </p:nvSpPr>
        <p:spPr>
          <a:xfrm>
            <a:off x="2099733" y="1422400"/>
            <a:ext cx="491065" cy="244686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3005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221B4E-36CA-CE54-BAA9-8DFC0A80F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3B8F09C-5024-90C6-C1B7-91E58F562CB9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3D963A44-1D4B-E7BC-59D6-3678CD380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0"/>
            <a:ext cx="411480" cy="41148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80D9B3A-F298-60BF-772A-0C2DD90F144E}"/>
              </a:ext>
            </a:extLst>
          </p:cNvPr>
          <p:cNvSpPr/>
          <p:nvPr/>
        </p:nvSpPr>
        <p:spPr>
          <a:xfrm>
            <a:off x="960120" y="228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Predicció: Random Forest vs. baselines</a:t>
            </a:r>
            <a:endParaRPr lang="en-US" sz="28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E3D5F15-05D5-300F-5135-9C30FD630DCA}"/>
              </a:ext>
            </a:extLst>
          </p:cNvPr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Podem predir si una estació estarà buida, plena o normal en cada franja de 30 minuts?</a:t>
            </a:r>
            <a:endParaRPr lang="en-US" sz="140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01AD31C2-5643-78D4-801D-25870E55CFD1}"/>
              </a:ext>
            </a:extLst>
          </p:cNvPr>
          <p:cNvSpPr/>
          <p:nvPr/>
        </p:nvSpPr>
        <p:spPr>
          <a:xfrm>
            <a:off x="5212079" y="1271016"/>
            <a:ext cx="2377440" cy="365760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9CFE17A7-3D8D-4792-F539-7CA165DF9237}"/>
              </a:ext>
            </a:extLst>
          </p:cNvPr>
          <p:cNvSpPr/>
          <p:nvPr/>
        </p:nvSpPr>
        <p:spPr>
          <a:xfrm>
            <a:off x="5303519" y="12710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~83% Balanced Accuracy</a:t>
            </a:r>
            <a:endParaRPr lang="en-US" sz="1000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446C3CA5-5ECF-9A48-8282-BCC673D685BF}"/>
              </a:ext>
            </a:extLst>
          </p:cNvPr>
          <p:cNvSpPr/>
          <p:nvPr/>
        </p:nvSpPr>
        <p:spPr>
          <a:xfrm>
            <a:off x="5212079" y="2337544"/>
            <a:ext cx="2377440" cy="36576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02932F4B-7A94-0581-06D7-6BCDEA6B6E83}"/>
              </a:ext>
            </a:extLst>
          </p:cNvPr>
          <p:cNvSpPr/>
          <p:nvPr/>
        </p:nvSpPr>
        <p:spPr>
          <a:xfrm>
            <a:off x="5303519" y="23375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Avg: ~45%</a:t>
            </a:r>
            <a:endParaRPr lang="en-US" sz="1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9F74DF9F-D586-738E-13B8-0EE4350A5D84}"/>
              </a:ext>
            </a:extLst>
          </p:cNvPr>
          <p:cNvSpPr/>
          <p:nvPr/>
        </p:nvSpPr>
        <p:spPr>
          <a:xfrm>
            <a:off x="5212079" y="1802225"/>
            <a:ext cx="2377440" cy="365760"/>
          </a:xfrm>
          <a:prstGeom prst="rect">
            <a:avLst/>
          </a:prstGeom>
          <a:solidFill>
            <a:srgbClr val="E0F7F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965D6698-6B65-1B64-ACF3-C64FCE29B760}"/>
              </a:ext>
            </a:extLst>
          </p:cNvPr>
          <p:cNvSpPr/>
          <p:nvPr/>
        </p:nvSpPr>
        <p:spPr>
          <a:xfrm>
            <a:off x="5303519" y="1802225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Naive 7d: ~53%</a:t>
            </a:r>
            <a:endParaRPr lang="en-US" sz="10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801F1542-DCEB-49A3-80A1-E3F4F32A372F}"/>
              </a:ext>
            </a:extLst>
          </p:cNvPr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0A8D2293-CE5D-E834-F87C-841ADB797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172549"/>
            <a:ext cx="3784510" cy="1701294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7094DD7-EAA4-204D-69D7-05B1DEA70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945" y="2937451"/>
            <a:ext cx="6340510" cy="199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21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importa per predir?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300" dirty="0">
                <a:solidFill>
                  <a:srgbClr val="49505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Les disponibilitats recents (LAG 2) i l'historial de problemes són els millors predictors</a:t>
            </a:r>
            <a:endParaRPr lang="en-US" sz="1300" dirty="0">
              <a:solidFill>
                <a:srgbClr val="495057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sp>
        <p:nvSpPr>
          <p:cNvPr id="7" name="Shape 3"/>
          <p:cNvSpPr/>
          <p:nvPr/>
        </p:nvSpPr>
        <p:spPr>
          <a:xfrm>
            <a:off x="5186680" y="1573614"/>
            <a:ext cx="3398520" cy="1302936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4"/>
          <p:cNvSpPr/>
          <p:nvPr/>
        </p:nvSpPr>
        <p:spPr>
          <a:xfrm>
            <a:off x="5323840" y="1691640"/>
            <a:ext cx="31901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supera amb escreix els baselines: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100" dirty="0" err="1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</a:t>
            </a:r>
            <a:r>
              <a:rPr lang="en-US" sz="11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29% per 'buida' i 'plena'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Recall &gt; 74,9% en totes les classes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F1 &gt; 43,6% fins i tot per la classe minoritària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175620B-7190-C425-2540-2A99F714C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189" y="1297217"/>
            <a:ext cx="4639976" cy="306904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i propera acció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2560320"/>
          </a:xfrm>
          <a:prstGeom prst="rect">
            <a:avLst/>
          </a:prstGeom>
          <a:solidFill>
            <a:srgbClr val="1E504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17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és real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del temps les estacions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donen servei complet.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Sarrià i Gràcia: &gt;30% buides.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37560" y="1188720"/>
            <a:ext cx="2606040" cy="2560320"/>
          </a:xfrm>
          <a:prstGeom prst="rect">
            <a:avLst/>
          </a:prstGeom>
          <a:solidFill>
            <a:srgbClr val="1E504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41732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 és previsible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3520440" y="2331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perfils d'ús identificats.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Patrons clars per hora, dia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districte.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17920" y="1188720"/>
            <a:ext cx="2606040" cy="2560320"/>
          </a:xfrm>
          <a:prstGeom prst="rect">
            <a:avLst/>
          </a:prstGeom>
          <a:solidFill>
            <a:srgbClr val="1E504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41732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0080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 funciona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400800" y="23317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balanced accuracy.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anticipar problemes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redistribuir bicicletes.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2"/>
          <p:cNvSpPr/>
          <p:nvPr/>
        </p:nvSpPr>
        <p:spPr>
          <a:xfrm>
            <a:off x="640080" y="4023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Pròxim pas: integrar el model en temps real per optimitzar la redistribució de bicicletes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Open Data Barcelona · Servei Bicing · 291M mesuraments · Elaboració pròpia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741</Words>
  <Application>Microsoft Office PowerPoint</Application>
  <PresentationFormat>Presentación en pantalla (16:9)</PresentationFormat>
  <Paragraphs>120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Bicing Barcelona – Análisis del servicio</dc:title>
  <dc:subject>PptxGenJS Presentation</dc:subject>
  <dc:creator>vanessa plaza</dc:creator>
  <cp:lastModifiedBy>vanessa plaza</cp:lastModifiedBy>
  <cp:revision>39</cp:revision>
  <dcterms:created xsi:type="dcterms:W3CDTF">2026-03-24T15:29:37Z</dcterms:created>
  <dcterms:modified xsi:type="dcterms:W3CDTF">2026-04-15T22:07:37Z</dcterms:modified>
</cp:coreProperties>
</file>