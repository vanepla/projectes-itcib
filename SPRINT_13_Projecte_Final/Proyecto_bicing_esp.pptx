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70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810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0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F6F1-D9E0-E688-9314-685D7EA34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42036-6B6E-4606-FE79-C202E0D1F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55812-68FB-40F9-7853-B343D776E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336F1-DF1E-5406-BDB3-F73B738C9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77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816C-7BD5-25E2-8E76-744716F6D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4BAC1-F073-1038-4E86-494B92B43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6EE50-23FE-EC96-FDE0-8E3CC8BC6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C6876-F7D4-F846-0077-8312429BD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33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48E8-299B-0E45-A994-0D75597D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5A4B5-1079-509C-391D-14FFFC842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C102C-BEF6-9AFE-983B-C228F5C58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96A02-BC94-2CC7-F2E0-2155796D0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40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63B2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BICING BARCELONA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reto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la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disponibilidad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</a:t>
            </a:r>
          </a:p>
          <a:p>
            <a:pPr algn="ctr">
              <a:lnSpc>
                <a:spcPct val="130000"/>
              </a:lnSpc>
            </a:pP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y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predicción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1300" dirty="0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 · Itinerario de Análisis de Datos · </a:t>
            </a:r>
            <a:r>
              <a:rPr lang="es-ES" sz="1300" dirty="0" err="1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Cibernarium</a:t>
            </a:r>
            <a:r>
              <a:rPr lang="es-ES" sz="1300" dirty="0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Barcelona Activa</a:t>
            </a:r>
            <a:endParaRPr lang="en-US" sz="1300" dirty="0">
              <a:solidFill>
                <a:srgbClr val="7FBF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Barcelona: 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</a:t>
            </a:r>
            <a:r>
              <a:rPr lang="fr-FR" sz="10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fr-FR" sz="10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548 </a:t>
            </a:r>
            <a:r>
              <a:rPr lang="fr-FR" sz="10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2020–2025</a:t>
            </a:r>
            <a:endParaRPr lang="en-US" sz="1000" i="1" dirty="0">
              <a:solidFill>
                <a:srgbClr val="5A9A7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32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red de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bicicletas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compartidas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más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grande de Barcelona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2064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1206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2423160"/>
            <a:ext cx="320040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12064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 M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120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</a:t>
            </a: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mes (media 2024)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3611880"/>
            <a:ext cx="320040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12064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M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1206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</a:t>
            </a: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analitzadas</a:t>
            </a: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(2020–2025)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pic>
        <p:nvPicPr>
          <p:cNvPr id="16" name="Imagen 15" descr="Mapa&#10;&#10;El contenido generado por IA puede ser incorrecto.">
            <a:extLst>
              <a:ext uri="{FF2B5EF4-FFF2-40B4-BE49-F238E27FC236}">
                <a16:creationId xmlns:a16="http://schemas.microsoft.com/office/drawing/2014/main" id="{6EBB102A-A863-07E4-1209-BC44222F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2339"/>
            <a:ext cx="4503798" cy="3479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 dels viatges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Bicing ha crecid0 de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manera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sostenida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desde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la pandemia, con un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récord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1.24 M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viajes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al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2024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Open Data Barcelona · Servicio Bicing ·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095CA7D-E7E8-D9DF-8447-6F77A1D13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56067"/>
            <a:ext cx="8412480" cy="3121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del </a:t>
            </a:r>
            <a:r>
              <a:rPr lang="es-ES" sz="32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Bicing</a:t>
            </a:r>
            <a:r>
              <a:rPr lang="es-E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hora, día y mes</a:t>
            </a:r>
            <a:endParaRPr lang="en-US" sz="3200" b="1" dirty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Picos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laborables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 las 8h y 18h,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descenso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agost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y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crecimiento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sostenido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año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año</a:t>
            </a:r>
            <a:endParaRPr lang="en-US" sz="1400" dirty="0">
              <a:solidFill>
                <a:srgbClr val="495057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Open Data Barcelona · Servicio Bicing ·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propia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Període 2022–2025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pic>
        <p:nvPicPr>
          <p:cNvPr id="10" name="Imagen 9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2318613-9248-25A0-95CC-AB9353371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99" y="1417983"/>
            <a:ext cx="3729001" cy="2396943"/>
          </a:xfrm>
          <a:prstGeom prst="rect">
            <a:avLst/>
          </a:prstGeom>
        </p:spPr>
      </p:pic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3B0E935-7377-5115-D3F2-21743F154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219" y="1414308"/>
            <a:ext cx="4243579" cy="2248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</a:t>
            </a:r>
            <a:r>
              <a:rPr lang="en-US" sz="3000" b="1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vacías</a:t>
            </a: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3000" b="1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15–25% del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tiempo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las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estaciones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no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tienen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bicicletas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 no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tienen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anclajes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libres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BE9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</a:t>
            </a:r>
            <a:r>
              <a:rPr lang="en-US" sz="13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vacías</a:t>
            </a: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(rojo) son el </a:t>
            </a:r>
            <a:r>
              <a:rPr lang="en-US" sz="13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</a:t>
            </a: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hasta </a:t>
            </a:r>
            <a:r>
              <a:rPr lang="en-US" sz="13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25% de las </a:t>
            </a:r>
            <a:r>
              <a:rPr lang="en-US" sz="13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</a:t>
            </a: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30 min sin </a:t>
            </a:r>
            <a:r>
              <a:rPr lang="en-US" sz="13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</a:t>
            </a: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bicicleta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30 min con 0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bicis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 0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anclajes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2022–2025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37255FD-44A6-2E24-3339-2D4945EA9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3802"/>
            <a:ext cx="8366760" cy="2574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Hora y dia de la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vacías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(8–10h),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coge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bicis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716CB02-8063-F819-5967-098F0922D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427" y="3035523"/>
            <a:ext cx="5942225" cy="1902237"/>
          </a:xfrm>
          <a:prstGeom prst="rect">
            <a:avLst/>
          </a:prstGeom>
        </p:spPr>
      </p:pic>
      <p:pic>
        <p:nvPicPr>
          <p:cNvPr id="11" name="Imagen 1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804C7CF-E0C6-420D-7AC5-84D1290D8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32" y="1133286"/>
            <a:ext cx="6169976" cy="1902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Distritos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Sarrià-Sant Gervasi i Gràcia: &gt;30% del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tiempo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vacías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 Ciutat Vella y Sant Martí: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problemas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llena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30 min con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800" i="1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</a:t>
            </a: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2022–2025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pic>
        <p:nvPicPr>
          <p:cNvPr id="10" name="Imagen 9" descr="Gráfico, Gráfico de barras, Gráfico de embudo&#10;&#10;El contenido generado por IA puede ser incorrecto.">
            <a:extLst>
              <a:ext uri="{FF2B5EF4-FFF2-40B4-BE49-F238E27FC236}">
                <a16:creationId xmlns:a16="http://schemas.microsoft.com/office/drawing/2014/main" id="{C04419E9-3D65-9972-DEEC-49C38490B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79253"/>
            <a:ext cx="5029201" cy="2493469"/>
          </a:xfrm>
          <a:prstGeom prst="rect">
            <a:avLst/>
          </a:prstGeom>
        </p:spPr>
      </p:pic>
      <p:pic>
        <p:nvPicPr>
          <p:cNvPr id="12" name="Imagen 11" descr="Mapa&#10;&#10;El contenido generado por IA puede ser incorrecto.">
            <a:extLst>
              <a:ext uri="{FF2B5EF4-FFF2-40B4-BE49-F238E27FC236}">
                <a16:creationId xmlns:a16="http://schemas.microsoft.com/office/drawing/2014/main" id="{014C7970-3D00-2AA8-E9DD-ABF585214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179911"/>
            <a:ext cx="3463619" cy="3655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A85DC-5EFF-58D5-7D47-69BEEC2C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54ED69-169E-474D-F3BC-AC7F8731374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4761C5-50F4-54CE-8702-AF2670F77542}"/>
              </a:ext>
            </a:extLst>
          </p:cNvPr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E28889-C8F4-CA0F-9B13-86F474D501B4}"/>
              </a:ext>
            </a:extLst>
          </p:cNvPr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Clustering K-Means con 30 variables para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identificar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patrones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diferenciados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54FC63C-548D-BA20-C754-54B81A44BE6C}"/>
              </a:ext>
            </a:extLst>
          </p:cNvPr>
          <p:cNvSpPr/>
          <p:nvPr/>
        </p:nvSpPr>
        <p:spPr>
          <a:xfrm>
            <a:off x="5050299" y="1353312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B16C9FA-F676-5D61-D08F-9A41FFEFA3ED}"/>
              </a:ext>
            </a:extLst>
          </p:cNvPr>
          <p:cNvSpPr/>
          <p:nvPr/>
        </p:nvSpPr>
        <p:spPr>
          <a:xfrm>
            <a:off x="5342907" y="128016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C0: </a:t>
            </a:r>
            <a:r>
              <a:rPr lang="en-US" sz="13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</a:t>
            </a: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Bajo Uso (132)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82BBAED-C22E-0CAF-B75F-95DCA172CDC8}"/>
              </a:ext>
            </a:extLst>
          </p:cNvPr>
          <p:cNvSpPr/>
          <p:nvPr/>
        </p:nvSpPr>
        <p:spPr>
          <a:xfrm>
            <a:off x="5342907" y="155448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poco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tránsito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menudo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vacías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9E97745-2D3B-6691-CB04-1C0282FFC968}"/>
              </a:ext>
            </a:extLst>
          </p:cNvPr>
          <p:cNvSpPr/>
          <p:nvPr/>
        </p:nvSpPr>
        <p:spPr>
          <a:xfrm>
            <a:off x="5050299" y="2066544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ABE4FB8-1BC8-A59F-83F6-B99476702CEC}"/>
              </a:ext>
            </a:extLst>
          </p:cNvPr>
          <p:cNvSpPr/>
          <p:nvPr/>
        </p:nvSpPr>
        <p:spPr>
          <a:xfrm>
            <a:off x="5342907" y="1993392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Central Alta </a:t>
            </a:r>
            <a:r>
              <a:rPr lang="en-US" sz="13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</a:t>
            </a: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(42)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727D5E2-2082-CC98-793C-8A25F0DB1A77}"/>
              </a:ext>
            </a:extLst>
          </p:cNvPr>
          <p:cNvSpPr/>
          <p:nvPr/>
        </p:nvSpPr>
        <p:spPr>
          <a:xfrm>
            <a:off x="5342907" y="226771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Centro, alta demanda, NAB alto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E5C7498-9533-3DE9-DE3E-3172DFB786C1}"/>
              </a:ext>
            </a:extLst>
          </p:cNvPr>
          <p:cNvSpPr/>
          <p:nvPr/>
        </p:nvSpPr>
        <p:spPr>
          <a:xfrm>
            <a:off x="5050299" y="2779776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65D932F-6332-E3A9-ED03-3DDFB04F6E49}"/>
              </a:ext>
            </a:extLst>
          </p:cNvPr>
          <p:cNvSpPr/>
          <p:nvPr/>
        </p:nvSpPr>
        <p:spPr>
          <a:xfrm>
            <a:off x="5342907" y="2706624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Origen Commuter </a:t>
            </a:r>
            <a:r>
              <a:rPr lang="en-US" sz="13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(162)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A8E7949-A35E-B69E-BB2C-8C55888D4005}"/>
              </a:ext>
            </a:extLst>
          </p:cNvPr>
          <p:cNvSpPr/>
          <p:nvPr/>
        </p:nvSpPr>
        <p:spPr>
          <a:xfrm>
            <a:off x="5342907" y="298094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vacían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B47785D-9A40-1D4C-F65A-91B0EA996516}"/>
              </a:ext>
            </a:extLst>
          </p:cNvPr>
          <p:cNvSpPr/>
          <p:nvPr/>
        </p:nvSpPr>
        <p:spPr>
          <a:xfrm>
            <a:off x="5050299" y="3493008"/>
            <a:ext cx="201168" cy="20116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D5A1AFA-9B9A-FE08-FE81-0286F1F7CA40}"/>
              </a:ext>
            </a:extLst>
          </p:cNvPr>
          <p:cNvSpPr/>
          <p:nvPr/>
        </p:nvSpPr>
        <p:spPr>
          <a:xfrm>
            <a:off x="5342907" y="3419856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Uso </a:t>
            </a:r>
            <a:r>
              <a:rPr lang="en-US" sz="13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</a:t>
            </a: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Equilibrado</a:t>
            </a: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(122)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E59DBA5-C0E9-AEB3-4D4F-95F8C8CE3BA3}"/>
              </a:ext>
            </a:extLst>
          </p:cNvPr>
          <p:cNvSpPr/>
          <p:nvPr/>
        </p:nvSpPr>
        <p:spPr>
          <a:xfrm>
            <a:off x="5342907" y="369417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equilibrado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gran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1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FE4DCBD-088F-8B82-D500-A4587820898E}"/>
              </a:ext>
            </a:extLst>
          </p:cNvPr>
          <p:cNvSpPr/>
          <p:nvPr/>
        </p:nvSpPr>
        <p:spPr>
          <a:xfrm>
            <a:off x="5050299" y="4206240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BB3E5B7-2A10-2448-C7B2-E3720B16366C}"/>
              </a:ext>
            </a:extLst>
          </p:cNvPr>
          <p:cNvSpPr/>
          <p:nvPr/>
        </p:nvSpPr>
        <p:spPr>
          <a:xfrm>
            <a:off x="5342907" y="413308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Residencial Entrada Tarde (59)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B59EB20-F8FD-37F4-D746-76DAA15F6CE8}"/>
              </a:ext>
            </a:extLst>
          </p:cNvPr>
          <p:cNvSpPr/>
          <p:nvPr/>
        </p:nvSpPr>
        <p:spPr>
          <a:xfrm>
            <a:off x="5342907" y="440740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residenciales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llenan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1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79BD2DA-8769-74AB-3D84-22C425DDE86C}"/>
              </a:ext>
            </a:extLst>
          </p:cNvPr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4086294-1130-B815-2849-138394593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6916"/>
            <a:ext cx="4462272" cy="357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4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2F6F9-68A6-A59F-8140-05BEEC89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2D482B-BBDC-B736-36EC-310D3DEDCF7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E2BE9E-86F6-2337-5596-966B6895E0F7}"/>
              </a:ext>
            </a:extLst>
          </p:cNvPr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clústers: centroides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575D0C-B912-769B-CD6A-23878564FF05}"/>
              </a:ext>
            </a:extLst>
          </p:cNvPr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clúster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tiene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un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perfil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diferente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según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capacidad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NAB,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variabilidad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y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problemas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disponibilidad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1F14FF4-30AC-8425-9502-87B10024799D}"/>
              </a:ext>
            </a:extLst>
          </p:cNvPr>
          <p:cNvSpPr/>
          <p:nvPr/>
        </p:nvSpPr>
        <p:spPr>
          <a:xfrm>
            <a:off x="457200" y="4297680"/>
            <a:ext cx="3931920" cy="50292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ECA02C-3E6F-D1BE-2704-B22B72123ECF}"/>
              </a:ext>
            </a:extLst>
          </p:cNvPr>
          <p:cNvSpPr/>
          <p:nvPr/>
        </p:nvSpPr>
        <p:spPr>
          <a:xfrm>
            <a:off x="59436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(Central): NAB </a:t>
            </a:r>
            <a:r>
              <a:rPr lang="en-US" sz="110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alto → </a:t>
            </a:r>
            <a:r>
              <a:rPr lang="en-US" sz="110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</a:t>
            </a: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3047EA8-C345-D5AC-E2D1-D7D7F140C53C}"/>
              </a:ext>
            </a:extLst>
          </p:cNvPr>
          <p:cNvSpPr/>
          <p:nvPr/>
        </p:nvSpPr>
        <p:spPr>
          <a:xfrm>
            <a:off x="4754880" y="4297680"/>
            <a:ext cx="3931920" cy="502920"/>
          </a:xfrm>
          <a:prstGeom prst="rect">
            <a:avLst/>
          </a:prstGeom>
          <a:solidFill>
            <a:srgbClr val="FBE9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F2FDF5F-0E55-497F-8492-CBE6FE81AB5A}"/>
              </a:ext>
            </a:extLst>
          </p:cNvPr>
          <p:cNvSpPr/>
          <p:nvPr/>
        </p:nvSpPr>
        <p:spPr>
          <a:xfrm>
            <a:off x="489204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(</a:t>
            </a:r>
            <a:r>
              <a:rPr lang="en-US" sz="11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Ratio </a:t>
            </a:r>
            <a:r>
              <a:rPr lang="en-US" sz="11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alto → </a:t>
            </a:r>
            <a:r>
              <a:rPr lang="en-US" sz="11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redistribución</a:t>
            </a: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054EF1-C26D-5F79-9D17-64984B409D29}"/>
              </a:ext>
            </a:extLst>
          </p:cNvPr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0A28836-72E4-BCA5-4D6A-F8C78FA3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101"/>
            <a:ext cx="8229600" cy="289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0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21B4E-36CA-CE54-BAA9-8DFC0A80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B8F09C-5024-90C6-C1B7-91E58F562CB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D963A44-1D4B-E7BC-59D6-3678CD38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80D9B3A-F298-60BF-772A-0C2DD90F144E}"/>
              </a:ext>
            </a:extLst>
          </p:cNvPr>
          <p:cNvSpPr/>
          <p:nvPr/>
        </p:nvSpPr>
        <p:spPr>
          <a:xfrm>
            <a:off x="96012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r>
              <a:rPr lang="en-US" sz="2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Random Forest vs. baselines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E3D5F15-05D5-300F-5135-9C30FD630DCA}"/>
              </a:ext>
            </a:extLst>
          </p:cNvPr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¿Podemos </a:t>
            </a:r>
            <a:r>
              <a:rPr lang="en-US" sz="1400" i="1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predecir</a:t>
            </a: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si </a:t>
            </a:r>
            <a:r>
              <a:rPr lang="en-US" sz="1400" i="1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</a:t>
            </a: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i="1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estación</a:t>
            </a: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i="1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estará</a:t>
            </a: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i="1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vacía</a:t>
            </a: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</a:t>
            </a:r>
            <a:r>
              <a:rPr lang="en-US" sz="1400" i="1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llena</a:t>
            </a: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 normal en cada franja de 30 </a:t>
            </a:r>
            <a:r>
              <a:rPr lang="en-US" sz="1400" i="1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minutos</a:t>
            </a: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1AD31C2-5643-78D4-801D-25870E55CFD1}"/>
              </a:ext>
            </a:extLst>
          </p:cNvPr>
          <p:cNvSpPr/>
          <p:nvPr/>
        </p:nvSpPr>
        <p:spPr>
          <a:xfrm>
            <a:off x="5212079" y="1271016"/>
            <a:ext cx="2377440" cy="36576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CFE17A7-3D8D-4792-F539-7CA165DF9237}"/>
              </a:ext>
            </a:extLst>
          </p:cNvPr>
          <p:cNvSpPr/>
          <p:nvPr/>
        </p:nvSpPr>
        <p:spPr>
          <a:xfrm>
            <a:off x="5303519" y="1271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~83% Balanced Accuracy</a:t>
            </a:r>
            <a:endParaRPr lang="en-US" sz="10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46C3CA5-5ECF-9A48-8282-BCC673D685BF}"/>
              </a:ext>
            </a:extLst>
          </p:cNvPr>
          <p:cNvSpPr/>
          <p:nvPr/>
        </p:nvSpPr>
        <p:spPr>
          <a:xfrm>
            <a:off x="5212079" y="2337544"/>
            <a:ext cx="2377440" cy="3657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2932F4B-7A94-0581-06D7-6BCDEA6B6E83}"/>
              </a:ext>
            </a:extLst>
          </p:cNvPr>
          <p:cNvSpPr/>
          <p:nvPr/>
        </p:nvSpPr>
        <p:spPr>
          <a:xfrm>
            <a:off x="5303519" y="2337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Avg: ~45%</a:t>
            </a:r>
            <a:endParaRPr lang="en-US" sz="10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F74DF9F-D586-738E-13B8-0EE4350A5D84}"/>
              </a:ext>
            </a:extLst>
          </p:cNvPr>
          <p:cNvSpPr/>
          <p:nvPr/>
        </p:nvSpPr>
        <p:spPr>
          <a:xfrm>
            <a:off x="5212079" y="1802225"/>
            <a:ext cx="2377440" cy="365760"/>
          </a:xfrm>
          <a:prstGeom prst="rect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65D6698-6B65-1B64-ACF3-C64FCE29B760}"/>
              </a:ext>
            </a:extLst>
          </p:cNvPr>
          <p:cNvSpPr/>
          <p:nvPr/>
        </p:nvSpPr>
        <p:spPr>
          <a:xfrm>
            <a:off x="5303519" y="180222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7d: ~53%</a:t>
            </a:r>
            <a:endParaRPr lang="en-US" sz="1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01F1542-DCEB-49A3-80A1-E3F4F32A372F}"/>
              </a:ext>
            </a:extLst>
          </p:cNvPr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A8D2293-CE5D-E834-F87C-841ADB797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172549"/>
            <a:ext cx="3784510" cy="170129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7094DD7-EAA4-204D-69D7-05B1DEA70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945" y="2937451"/>
            <a:ext cx="6340510" cy="199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2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30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</a:t>
            </a:r>
            <a:r>
              <a:rPr lang="fr-FR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disponibilidades</a:t>
            </a:r>
            <a:r>
              <a:rPr lang="fr-FR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fr-FR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recientes</a:t>
            </a:r>
            <a:r>
              <a:rPr lang="fr-FR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(LAG 2) y el historial de </a:t>
            </a:r>
            <a:r>
              <a:rPr lang="fr-FR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problemas</a:t>
            </a:r>
            <a:r>
              <a:rPr lang="fr-FR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son los </a:t>
            </a:r>
            <a:r>
              <a:rPr lang="fr-FR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mejores</a:t>
            </a:r>
            <a:r>
              <a:rPr lang="fr-FR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fr-FR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predictores</a:t>
            </a:r>
            <a:endParaRPr lang="en-US" sz="1300" dirty="0">
              <a:solidFill>
                <a:srgbClr val="495057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186680" y="1573614"/>
            <a:ext cx="3398520" cy="1302936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5323840" y="1691640"/>
            <a:ext cx="31901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r>
              <a:rPr lang="en-US" sz="12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</a:t>
            </a: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creces</a:t>
            </a: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baselines: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29% para ‘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y ‘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Recall &gt; 74,9%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F1 &gt; 43,6%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minoritaria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8C5DA7D-7E81-E910-1E34-DA160D19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2028"/>
            <a:ext cx="4639976" cy="30690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560320"/>
          </a:xfrm>
          <a:prstGeom prst="rect">
            <a:avLst/>
          </a:prstGeom>
          <a:solidFill>
            <a:srgbClr val="1E504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real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del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Sarrià i Gràcia: &gt;30%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vacías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06040" cy="2560320"/>
          </a:xfrm>
          <a:prstGeom prst="rect">
            <a:avLst/>
          </a:prstGeom>
          <a:solidFill>
            <a:srgbClr val="1E504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previsible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2044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claros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hora, día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606040" cy="2560320"/>
          </a:xfrm>
          <a:prstGeom prst="rect">
            <a:avLst/>
          </a:prstGeom>
          <a:solidFill>
            <a:srgbClr val="1E504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balanced accuracy.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redistribuir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bicicletas</a:t>
            </a: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paso: integrar </a:t>
            </a: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para </a:t>
            </a: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redistribución</a:t>
            </a: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bicicletas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Open Data Barcelona · Servicio Bicing · 291M </a:t>
            </a:r>
            <a:r>
              <a:rPr lang="en-US" sz="9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</a:t>
            </a:r>
            <a:r>
              <a:rPr lang="en-US" sz="9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r>
              <a:rPr lang="en-US" sz="9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668</Words>
  <Application>Microsoft Office PowerPoint</Application>
  <PresentationFormat>Presentación en pantalla (16:9)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Bicing Barcelona – Análisis del servicio</dc:title>
  <dc:subject>PptxGenJS Presentation</dc:subject>
  <dc:creator>vanessa plaza</dc:creator>
  <cp:lastModifiedBy>vanessa plaza</cp:lastModifiedBy>
  <cp:revision>26</cp:revision>
  <dcterms:created xsi:type="dcterms:W3CDTF">2026-03-24T15:29:37Z</dcterms:created>
  <dcterms:modified xsi:type="dcterms:W3CDTF">2026-04-09T00:51:32Z</dcterms:modified>
</cp:coreProperties>
</file>